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Play"/>
      <p:regular r:id="rId29"/>
      <p:bold r:id="rId30"/>
    </p:embeddedFont>
    <p:embeddedFont>
      <p:font typeface="Radley"/>
      <p:regular r:id="rId31"/>
      <p:italic r:id="rId32"/>
    </p:embeddedFont>
    <p:embeddedFont>
      <p:font typeface="Century Gothic"/>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hZeJaMhGT36IWWEeEuv1bBdCBP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9D0671-3B3A-4BBB-9704-2ACD332EF75A}">
  <a:tblStyle styleId="{2D9D0671-3B3A-4BBB-9704-2ACD332EF75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lay-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dley-regular.fntdata"/><Relationship Id="rId30" Type="http://schemas.openxmlformats.org/officeDocument/2006/relationships/font" Target="fonts/Play-bold.fntdata"/><Relationship Id="rId11" Type="http://schemas.openxmlformats.org/officeDocument/2006/relationships/slide" Target="slides/slide6.xml"/><Relationship Id="rId33" Type="http://schemas.openxmlformats.org/officeDocument/2006/relationships/font" Target="fonts/CenturyGothic-regular.fntdata"/><Relationship Id="rId10" Type="http://schemas.openxmlformats.org/officeDocument/2006/relationships/slide" Target="slides/slide5.xml"/><Relationship Id="rId32" Type="http://schemas.openxmlformats.org/officeDocument/2006/relationships/font" Target="fonts/Radley-italic.fntdata"/><Relationship Id="rId13" Type="http://schemas.openxmlformats.org/officeDocument/2006/relationships/slide" Target="slides/slide8.xml"/><Relationship Id="rId35" Type="http://schemas.openxmlformats.org/officeDocument/2006/relationships/font" Target="fonts/CenturyGothic-italic.fntdata"/><Relationship Id="rId12" Type="http://schemas.openxmlformats.org/officeDocument/2006/relationships/slide" Target="slides/slide7.xml"/><Relationship Id="rId34" Type="http://schemas.openxmlformats.org/officeDocument/2006/relationships/font" Target="fonts/CenturyGothic-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CenturyGothic-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
        <p:nvSpPr>
          <p:cNvPr id="13" name="Google Shape;13;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9" name="Google Shape;19;p26"/>
          <p:cNvGrpSpPr/>
          <p:nvPr/>
        </p:nvGrpSpPr>
        <p:grpSpPr>
          <a:xfrm>
            <a:off x="711200" y="6376989"/>
            <a:ext cx="3855543" cy="287606"/>
            <a:chOff x="711200" y="6376989"/>
            <a:chExt cx="3855543" cy="287606"/>
          </a:xfrm>
        </p:grpSpPr>
        <p:sp>
          <p:nvSpPr>
            <p:cNvPr id="20" name="Google Shape;20;p26"/>
            <p:cNvSpPr txBox="1"/>
            <p:nvPr/>
          </p:nvSpPr>
          <p:spPr>
            <a:xfrm>
              <a:off x="711200" y="6408107"/>
              <a:ext cx="3855543"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900">
                  <a:solidFill>
                    <a:srgbClr val="A5A5A5"/>
                  </a:solidFill>
                  <a:latin typeface="Century Gothic"/>
                  <a:ea typeface="Century Gothic"/>
                  <a:cs typeface="Century Gothic"/>
                  <a:sym typeface="Century Gothic"/>
                </a:rPr>
                <a:t>Designed by the		 for Stanbic Bank Zambia Limited</a:t>
              </a:r>
              <a:endParaRPr/>
            </a:p>
          </p:txBody>
        </p:sp>
        <p:pic>
          <p:nvPicPr>
            <p:cNvPr id="21" name="Google Shape;21;p26"/>
            <p:cNvPicPr preferRelativeResize="0"/>
            <p:nvPr/>
          </p:nvPicPr>
          <p:blipFill rotWithShape="1">
            <a:blip r:embed="rId2">
              <a:alphaModFix/>
            </a:blip>
            <a:srcRect b="0" l="0" r="0" t="0"/>
            <a:stretch/>
          </p:blipFill>
          <p:spPr>
            <a:xfrm>
              <a:off x="1859280" y="6376989"/>
              <a:ext cx="697924" cy="287606"/>
            </a:xfrm>
            <a:prstGeom prst="rect">
              <a:avLst/>
            </a:prstGeom>
            <a:noFill/>
            <a:ln>
              <a:noFill/>
            </a:ln>
          </p:spPr>
        </p:pic>
      </p:grpSp>
      <p:pic>
        <p:nvPicPr>
          <p:cNvPr id="22" name="Google Shape;22;p26"/>
          <p:cNvPicPr preferRelativeResize="0"/>
          <p:nvPr/>
        </p:nvPicPr>
        <p:blipFill rotWithShape="1">
          <a:blip r:embed="rId3">
            <a:alphaModFix/>
          </a:blip>
          <a:srcRect b="0" l="0" r="0" t="0"/>
          <a:stretch/>
        </p:blipFill>
        <p:spPr>
          <a:xfrm>
            <a:off x="11287760" y="313690"/>
            <a:ext cx="464820" cy="537863"/>
          </a:xfrm>
          <a:prstGeom prst="rect">
            <a:avLst/>
          </a:prstGeom>
          <a:noFill/>
          <a:ln>
            <a:noFill/>
          </a:ln>
        </p:spPr>
      </p:pic>
      <p:sp>
        <p:nvSpPr>
          <p:cNvPr id="23" name="Google Shape;23;p26"/>
          <p:cNvSpPr/>
          <p:nvPr/>
        </p:nvSpPr>
        <p:spPr>
          <a:xfrm>
            <a:off x="-50800" y="6827520"/>
            <a:ext cx="12293600" cy="8128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 name="Google Shape;31;p2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 name="Google Shape;32;p2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8" name="Google Shape;38;p2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9" name="Google Shape;39;p2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7" name="Google Shape;47;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8" name="Google Shape;48;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2" name="Google Shape;52;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3" name="Google Shape;53;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9" name="Google Shape;59;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0" name="Google Shape;60;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5183188" y="987425"/>
            <a:ext cx="6172200" cy="4873625"/>
          </a:xfrm>
          <a:prstGeom prst="rect">
            <a:avLst/>
          </a:prstGeom>
          <a:noFill/>
          <a:ln>
            <a:noFill/>
          </a:ln>
        </p:spPr>
      </p:sp>
      <p:sp>
        <p:nvSpPr>
          <p:cNvPr id="64" name="Google Shape;64;p3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6" name="Google Shape;66;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7" name="Google Shape;67;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2" name="Google Shape;72;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3" name="Google Shape;73;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8" name="Google Shape;78;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9" name="Google Shape;79;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4.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4" Type="http://schemas.openxmlformats.org/officeDocument/2006/relationships/theme" Target="../theme/theme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grpSp>
        <p:nvGrpSpPr>
          <p:cNvPr id="8" name="Google Shape;8;p24"/>
          <p:cNvGrpSpPr/>
          <p:nvPr/>
        </p:nvGrpSpPr>
        <p:grpSpPr>
          <a:xfrm>
            <a:off x="711200" y="6376989"/>
            <a:ext cx="3855543" cy="287606"/>
            <a:chOff x="711200" y="6376989"/>
            <a:chExt cx="3855543" cy="287606"/>
          </a:xfrm>
        </p:grpSpPr>
        <p:sp>
          <p:nvSpPr>
            <p:cNvPr id="9" name="Google Shape;9;p24"/>
            <p:cNvSpPr txBox="1"/>
            <p:nvPr/>
          </p:nvSpPr>
          <p:spPr>
            <a:xfrm>
              <a:off x="711200" y="6408107"/>
              <a:ext cx="3855543"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900" u="none" cap="none" strike="noStrike">
                  <a:solidFill>
                    <a:srgbClr val="A5A5A5"/>
                  </a:solidFill>
                  <a:latin typeface="Century Gothic"/>
                  <a:ea typeface="Century Gothic"/>
                  <a:cs typeface="Century Gothic"/>
                  <a:sym typeface="Century Gothic"/>
                </a:rPr>
                <a:t>Designed by the		 for Stanbic Bank Zambia Limited</a:t>
              </a:r>
              <a:endParaRPr/>
            </a:p>
          </p:txBody>
        </p:sp>
        <p:pic>
          <p:nvPicPr>
            <p:cNvPr id="10" name="Google Shape;10;p24"/>
            <p:cNvPicPr preferRelativeResize="0"/>
            <p:nvPr/>
          </p:nvPicPr>
          <p:blipFill rotWithShape="1">
            <a:blip r:embed="rId1">
              <a:alphaModFix/>
            </a:blip>
            <a:srcRect b="0" l="0" r="0" t="0"/>
            <a:stretch/>
          </p:blipFill>
          <p:spPr>
            <a:xfrm>
              <a:off x="1859280" y="6376989"/>
              <a:ext cx="697924" cy="287606"/>
            </a:xfrm>
            <a:prstGeom prst="rect">
              <a:avLst/>
            </a:prstGeom>
            <a:noFill/>
            <a:ln>
              <a:noFill/>
            </a:ln>
          </p:spPr>
        </p:pic>
      </p:grpSp>
      <p:pic>
        <p:nvPicPr>
          <p:cNvPr id="11" name="Google Shape;11;p24"/>
          <p:cNvPicPr preferRelativeResize="0"/>
          <p:nvPr/>
        </p:nvPicPr>
        <p:blipFill rotWithShape="1">
          <a:blip r:embed="rId2">
            <a:alphaModFix/>
          </a:blip>
          <a:srcRect b="0" l="0" r="0" t="0"/>
          <a:stretch/>
        </p:blipFill>
        <p:spPr>
          <a:xfrm>
            <a:off x="11287760" y="313690"/>
            <a:ext cx="464820" cy="53786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 Id="rId4" Type="http://schemas.openxmlformats.org/officeDocument/2006/relationships/hyperlink" Target="https://drive.google.com/drive/folders/13XoYZNTa9SNogGsk3DsdwjBJhlpTdSSr?usp=drive_link" TargetMode="External"/><Relationship Id="rId5" Type="http://schemas.openxmlformats.org/officeDocument/2006/relationships/image" Target="../media/image11.png"/><Relationship Id="rId6" Type="http://schemas.openxmlformats.org/officeDocument/2006/relationships/hyperlink" Target="https://drive.google.com/drive/folders/13XoYZNTa9SNogGsk3DsdwjBJhlpTdSSr?usp=drive_link" TargetMode="External"/><Relationship Id="rId7" Type="http://schemas.openxmlformats.org/officeDocument/2006/relationships/hyperlink" Target="https://drive.google.com/drive/folders/1orqSY_KeDHtmsUMPHuNtQd93rkE5zM65?usp=drive_link" TargetMode="External"/><Relationship Id="rId8" Type="http://schemas.openxmlformats.org/officeDocument/2006/relationships/hyperlink" Target="https://drive.google.com/drive/folders/1orqSY_KeDHtmsUMPHuNtQd93rkE5zM65?usp=drive_lin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A person writing on a whiteboard&#10;&#10;Description automatically generated" id="84" name="Google Shape;84;p1"/>
          <p:cNvPicPr preferRelativeResize="0"/>
          <p:nvPr/>
        </p:nvPicPr>
        <p:blipFill rotWithShape="1">
          <a:blip r:embed="rId3">
            <a:alphaModFix/>
          </a:blip>
          <a:srcRect b="34635" l="0" r="0" t="3155"/>
          <a:stretch/>
        </p:blipFill>
        <p:spPr>
          <a:xfrm>
            <a:off x="0" y="0"/>
            <a:ext cx="12192000" cy="5063319"/>
          </a:xfrm>
          <a:prstGeom prst="rect">
            <a:avLst/>
          </a:prstGeom>
          <a:noFill/>
          <a:ln>
            <a:noFill/>
          </a:ln>
        </p:spPr>
      </p:pic>
      <p:sp>
        <p:nvSpPr>
          <p:cNvPr id="85" name="Google Shape;85;p1"/>
          <p:cNvSpPr txBox="1"/>
          <p:nvPr/>
        </p:nvSpPr>
        <p:spPr>
          <a:xfrm>
            <a:off x="678095" y="5178175"/>
            <a:ext cx="5036956" cy="99257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200">
                <a:solidFill>
                  <a:schemeClr val="dk1"/>
                </a:solidFill>
                <a:latin typeface="Century Gothic"/>
                <a:ea typeface="Century Gothic"/>
                <a:cs typeface="Century Gothic"/>
                <a:sym typeface="Century Gothic"/>
              </a:rPr>
              <a:t>Proof of Concept Model</a:t>
            </a:r>
            <a:endParaRPr/>
          </a:p>
          <a:p>
            <a:pPr indent="0" lvl="0" marL="0" marR="0" rtl="0" algn="l">
              <a:spcBef>
                <a:spcPts val="0"/>
              </a:spcBef>
              <a:spcAft>
                <a:spcPts val="0"/>
              </a:spcAft>
              <a:buNone/>
            </a:pPr>
            <a:r>
              <a:rPr lang="en-GB" sz="1600">
                <a:solidFill>
                  <a:srgbClr val="A5A5A5"/>
                </a:solidFill>
                <a:latin typeface="Century Gothic"/>
                <a:ea typeface="Century Gothic"/>
                <a:cs typeface="Century Gothic"/>
                <a:sym typeface="Century Gothic"/>
              </a:rPr>
              <a:t>Innovation Sandbox Framework</a:t>
            </a:r>
            <a:endParaRPr/>
          </a:p>
          <a:p>
            <a:pPr indent="0" lvl="0" marL="0" marR="0" rtl="0" algn="l">
              <a:spcBef>
                <a:spcPts val="0"/>
              </a:spcBef>
              <a:spcAft>
                <a:spcPts val="0"/>
              </a:spcAft>
              <a:buNone/>
            </a:pPr>
            <a:r>
              <a:rPr b="1" lang="en-GB" sz="1050">
                <a:solidFill>
                  <a:srgbClr val="002060"/>
                </a:solidFill>
                <a:latin typeface="Century Gothic"/>
                <a:ea typeface="Century Gothic"/>
                <a:cs typeface="Century Gothic"/>
                <a:sym typeface="Century Gothic"/>
              </a:rPr>
              <a:t>Stanbic Bank Zambia Limited</a:t>
            </a:r>
            <a:endParaRPr/>
          </a:p>
        </p:txBody>
      </p:sp>
      <p:pic>
        <p:nvPicPr>
          <p:cNvPr id="86" name="Google Shape;86;p1"/>
          <p:cNvPicPr preferRelativeResize="0"/>
          <p:nvPr/>
        </p:nvPicPr>
        <p:blipFill rotWithShape="1">
          <a:blip r:embed="rId4">
            <a:alphaModFix/>
          </a:blip>
          <a:srcRect b="0" l="0" r="0" t="0"/>
          <a:stretch/>
        </p:blipFill>
        <p:spPr>
          <a:xfrm>
            <a:off x="11287760" y="313690"/>
            <a:ext cx="464820" cy="5378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nvSpPr>
        <p:spPr>
          <a:xfrm>
            <a:off x="786661" y="816044"/>
            <a:ext cx="9544694" cy="39395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200">
                <a:solidFill>
                  <a:schemeClr val="dk1"/>
                </a:solidFill>
                <a:latin typeface="Century Gothic"/>
                <a:ea typeface="Century Gothic"/>
                <a:cs typeface="Century Gothic"/>
                <a:sym typeface="Century Gothic"/>
              </a:rPr>
              <a:t>Ownership Statement</a:t>
            </a:r>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lang="en-GB" sz="1600">
                <a:solidFill>
                  <a:schemeClr val="dk1"/>
                </a:solidFill>
                <a:latin typeface="Century Gothic"/>
                <a:ea typeface="Century Gothic"/>
                <a:cs typeface="Century Gothic"/>
                <a:sym typeface="Century Gothic"/>
              </a:rPr>
              <a:t>This Proof of Concept (PoC) framework, meticulously crafted by Innovation Village for Stanbic Bank Zambia Limited, is the exclusive intellectual property of Stanbic Bank Zambia Limited. </a:t>
            </a:r>
            <a:endParaRPr/>
          </a:p>
          <a:p>
            <a:pPr indent="0" lvl="0" marL="0" marR="0" rtl="0" algn="just">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lang="en-GB" sz="1600">
                <a:solidFill>
                  <a:schemeClr val="dk1"/>
                </a:solidFill>
                <a:latin typeface="Century Gothic"/>
                <a:ea typeface="Century Gothic"/>
                <a:cs typeface="Century Gothic"/>
                <a:sym typeface="Century Gothic"/>
              </a:rPr>
              <a:t>All elements comprising this framework, encompassing its methodologies, processes, and documentation, are the proprietary assets of Stanbic Bank Zambia Limited. Unauthorized replication, dissemination, or utilization of this framework without explicit written consent from Stanbic Bank Zambia Limited is strictly prohibited. </a:t>
            </a:r>
            <a:endParaRPr/>
          </a:p>
          <a:p>
            <a:pPr indent="0" lvl="0" marL="0" marR="0" rtl="0" algn="just">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lang="en-GB" sz="1600">
                <a:solidFill>
                  <a:schemeClr val="dk1"/>
                </a:solidFill>
                <a:latin typeface="Century Gothic"/>
                <a:ea typeface="Century Gothic"/>
                <a:cs typeface="Century Gothic"/>
                <a:sym typeface="Century Gothic"/>
              </a:rPr>
              <a:t>Stanbic Bank Zambia Limited reserves the right to uphold its intellectual property rights to the fullest extent permissible by law.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nvSpPr>
        <p:spPr>
          <a:xfrm>
            <a:off x="873456" y="959093"/>
            <a:ext cx="9662616" cy="493981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GB" sz="1050">
                <a:solidFill>
                  <a:schemeClr val="dk1"/>
                </a:solidFill>
                <a:latin typeface="Century Gothic"/>
                <a:ea typeface="Century Gothic"/>
                <a:cs typeface="Century Gothic"/>
                <a:sym typeface="Century Gothic"/>
              </a:rPr>
              <a:t>In today's rapidly evolving business landscape, corporate innovation has emerged as a crucial driver of growth and sustainability, particularly within the financial services sector. As customer expectations continue to evolve, financial organizations are under increasing pressure to deliver innovative products and services that cater to changing market demands. </a:t>
            </a:r>
            <a:endParaRPr sz="105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t/>
            </a:r>
            <a:endParaRPr b="0" i="0" sz="105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0" i="0" lang="en-GB" sz="1050">
                <a:solidFill>
                  <a:schemeClr val="dk1"/>
                </a:solidFill>
                <a:latin typeface="Century Gothic"/>
                <a:ea typeface="Century Gothic"/>
                <a:cs typeface="Century Gothic"/>
                <a:sym typeface="Century Gothic"/>
              </a:rPr>
              <a:t>However, despite the clear imperative for innovation, many financial institutions grapple with internal processes, governance structures, and regulatory limitations that hinder their ability to swiftly bring new ideas to market Complex approval procedures and regulatory compliance requirements slow down innovation pipelines, posing challenges for organizations striving to stay competitive. Streamlining innovation frameworks and adopting agile methodologies are crucial for overcoming these barriers and accelerating time-to-market for transformative innovations.</a:t>
            </a:r>
            <a:endParaRPr/>
          </a:p>
          <a:p>
            <a:pPr indent="0" lvl="0" marL="0" marR="0" rtl="0" algn="just">
              <a:spcBef>
                <a:spcPts val="0"/>
              </a:spcBef>
              <a:spcAft>
                <a:spcPts val="0"/>
              </a:spcAft>
              <a:buNone/>
            </a:pPr>
            <a:r>
              <a:t/>
            </a:r>
            <a:endParaRPr sz="105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GB" sz="1050">
                <a:solidFill>
                  <a:schemeClr val="dk1"/>
                </a:solidFill>
                <a:latin typeface="Century Gothic"/>
                <a:ea typeface="Century Gothic"/>
                <a:cs typeface="Century Gothic"/>
                <a:sym typeface="Century Gothic"/>
              </a:rPr>
              <a:t>Purpose and Scope</a:t>
            </a:r>
            <a:endParaRPr/>
          </a:p>
          <a:p>
            <a:pPr indent="0" lvl="0" marL="0" marR="0" rtl="0" algn="just">
              <a:spcBef>
                <a:spcPts val="0"/>
              </a:spcBef>
              <a:spcAft>
                <a:spcPts val="0"/>
              </a:spcAft>
              <a:buNone/>
            </a:pPr>
            <a:r>
              <a:t/>
            </a:r>
            <a:endParaRPr b="0" i="0" sz="1050">
              <a:solidFill>
                <a:schemeClr val="dk1"/>
              </a:solidFill>
              <a:latin typeface="Century Gothic"/>
              <a:ea typeface="Century Gothic"/>
              <a:cs typeface="Century Gothic"/>
              <a:sym typeface="Century Gothic"/>
            </a:endParaRPr>
          </a:p>
          <a:p>
            <a:pPr indent="-171450" lvl="0" marL="171450" marR="0" rtl="0" algn="just">
              <a:spcBef>
                <a:spcPts val="0"/>
              </a:spcBef>
              <a:spcAft>
                <a:spcPts val="0"/>
              </a:spcAft>
              <a:buClr>
                <a:schemeClr val="dk1"/>
              </a:buClr>
              <a:buSzPts val="1050"/>
              <a:buFont typeface="Courier New"/>
              <a:buChar char="o"/>
            </a:pPr>
            <a:r>
              <a:rPr b="0" i="0" lang="en-GB" sz="1050">
                <a:solidFill>
                  <a:schemeClr val="dk1"/>
                </a:solidFill>
                <a:latin typeface="Century Gothic"/>
                <a:ea typeface="Century Gothic"/>
                <a:cs typeface="Century Gothic"/>
                <a:sym typeface="Century Gothic"/>
              </a:rPr>
              <a:t>The product development framework and Proof of Concepts (PoCs) are instrumental in driving innovation initiatives within Stanbic Bank Zambia, focusing on business improvement, optimization, and market disruption.</a:t>
            </a:r>
            <a:endParaRPr/>
          </a:p>
          <a:p>
            <a:pPr indent="-171450" lvl="0" marL="171450" marR="0" rtl="0" algn="just">
              <a:spcBef>
                <a:spcPts val="0"/>
              </a:spcBef>
              <a:spcAft>
                <a:spcPts val="0"/>
              </a:spcAft>
              <a:buClr>
                <a:schemeClr val="dk1"/>
              </a:buClr>
              <a:buSzPts val="1050"/>
              <a:buFont typeface="Courier New"/>
              <a:buChar char="o"/>
            </a:pPr>
            <a:r>
              <a:rPr b="0" i="0" lang="en-GB" sz="1050">
                <a:solidFill>
                  <a:schemeClr val="dk1"/>
                </a:solidFill>
                <a:latin typeface="Century Gothic"/>
                <a:ea typeface="Century Gothic"/>
                <a:cs typeface="Century Gothic"/>
                <a:sym typeface="Century Gothic"/>
              </a:rPr>
              <a:t>The scope encompasses the design, development, and integration of novel solutions aligned with the bank's digital and innovation strategy.</a:t>
            </a:r>
            <a:endParaRPr/>
          </a:p>
          <a:p>
            <a:pPr indent="-171450" lvl="0" marL="171450" marR="0" rtl="0" algn="just">
              <a:spcBef>
                <a:spcPts val="0"/>
              </a:spcBef>
              <a:spcAft>
                <a:spcPts val="0"/>
              </a:spcAft>
              <a:buClr>
                <a:schemeClr val="dk1"/>
              </a:buClr>
              <a:buSzPts val="1050"/>
              <a:buFont typeface="Courier New"/>
              <a:buChar char="o"/>
            </a:pPr>
            <a:r>
              <a:rPr lang="en-GB" sz="1050">
                <a:solidFill>
                  <a:schemeClr val="dk1"/>
                </a:solidFill>
                <a:latin typeface="Century Gothic"/>
                <a:ea typeface="Century Gothic"/>
                <a:cs typeface="Century Gothic"/>
                <a:sym typeface="Century Gothic"/>
              </a:rPr>
              <a:t>This document is instructional and accompanied with working tools to guide the implementation of the frameworks designed to enable speed to market, effective assessment and valuation of projects for benefit realization.</a:t>
            </a:r>
            <a:endParaRPr b="0" i="0" sz="105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t/>
            </a:r>
            <a:endParaRPr sz="105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GB" sz="1050">
                <a:solidFill>
                  <a:schemeClr val="dk1"/>
                </a:solidFill>
                <a:latin typeface="Century Gothic"/>
                <a:ea typeface="Century Gothic"/>
                <a:cs typeface="Century Gothic"/>
                <a:sym typeface="Century Gothic"/>
              </a:rPr>
              <a:t>Methodology</a:t>
            </a:r>
            <a:endParaRPr/>
          </a:p>
          <a:p>
            <a:pPr indent="0" lvl="0" marL="0" marR="0" rtl="0" algn="just">
              <a:spcBef>
                <a:spcPts val="0"/>
              </a:spcBef>
              <a:spcAft>
                <a:spcPts val="0"/>
              </a:spcAft>
              <a:buNone/>
            </a:pPr>
            <a:r>
              <a:t/>
            </a:r>
            <a:endParaRPr b="0" i="0" sz="105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0" i="0" lang="en-GB" sz="1050">
                <a:solidFill>
                  <a:schemeClr val="dk1"/>
                </a:solidFill>
                <a:latin typeface="Century Gothic"/>
                <a:ea typeface="Century Gothic"/>
                <a:cs typeface="Century Gothic"/>
                <a:sym typeface="Century Gothic"/>
              </a:rPr>
              <a:t>The framework outlines a structured approach to product development, leveraging internal data insights and customer feedback for validation. Methodologies for product design, development, and testing adhere to the bank's security and data management protocols, ensuring compliance and reliability.</a:t>
            </a:r>
            <a:endParaRPr/>
          </a:p>
          <a:p>
            <a:pPr indent="0" lvl="0" marL="0" marR="0" rtl="0" algn="just">
              <a:spcBef>
                <a:spcPts val="0"/>
              </a:spcBef>
              <a:spcAft>
                <a:spcPts val="0"/>
              </a:spcAft>
              <a:buNone/>
            </a:pPr>
            <a:r>
              <a:t/>
            </a:r>
            <a:endParaRPr sz="105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GB" sz="1050">
                <a:solidFill>
                  <a:schemeClr val="dk1"/>
                </a:solidFill>
                <a:latin typeface="Century Gothic"/>
                <a:ea typeface="Century Gothic"/>
                <a:cs typeface="Century Gothic"/>
                <a:sym typeface="Century Gothic"/>
              </a:rPr>
              <a:t>Benefits</a:t>
            </a:r>
            <a:endParaRPr/>
          </a:p>
          <a:p>
            <a:pPr indent="0" lvl="0" marL="0" marR="0" rtl="0" algn="just">
              <a:spcBef>
                <a:spcPts val="0"/>
              </a:spcBef>
              <a:spcAft>
                <a:spcPts val="0"/>
              </a:spcAft>
              <a:buNone/>
            </a:pPr>
            <a:r>
              <a:t/>
            </a:r>
            <a:endParaRPr b="0" i="0" sz="1050">
              <a:solidFill>
                <a:schemeClr val="dk1"/>
              </a:solidFill>
              <a:latin typeface="Century Gothic"/>
              <a:ea typeface="Century Gothic"/>
              <a:cs typeface="Century Gothic"/>
              <a:sym typeface="Century Gothic"/>
            </a:endParaRPr>
          </a:p>
          <a:p>
            <a:pPr indent="-171450" lvl="0" marL="171450" marR="0" rtl="0" algn="just">
              <a:spcBef>
                <a:spcPts val="0"/>
              </a:spcBef>
              <a:spcAft>
                <a:spcPts val="0"/>
              </a:spcAft>
              <a:buClr>
                <a:schemeClr val="dk1"/>
              </a:buClr>
              <a:buSzPts val="1050"/>
              <a:buFont typeface="Courier New"/>
              <a:buChar char="o"/>
            </a:pPr>
            <a:r>
              <a:rPr lang="en-GB" sz="1050">
                <a:solidFill>
                  <a:schemeClr val="dk1"/>
                </a:solidFill>
                <a:latin typeface="Century Gothic"/>
                <a:ea typeface="Century Gothic"/>
                <a:cs typeface="Century Gothic"/>
                <a:sym typeface="Century Gothic"/>
              </a:rPr>
              <a:t>T</a:t>
            </a:r>
            <a:r>
              <a:rPr b="0" i="0" lang="en-GB" sz="1050">
                <a:solidFill>
                  <a:schemeClr val="dk1"/>
                </a:solidFill>
                <a:latin typeface="Century Gothic"/>
                <a:ea typeface="Century Gothic"/>
                <a:cs typeface="Century Gothic"/>
                <a:sym typeface="Century Gothic"/>
              </a:rPr>
              <a:t>he framework will facilitate the acceleration of time-to-market for innovative solutions, enabling Stanbic Bank Zambia to swiftly respond to market demands and stay ahead of competitors.</a:t>
            </a:r>
            <a:endParaRPr/>
          </a:p>
          <a:p>
            <a:pPr indent="-171450" lvl="0" marL="171450" marR="0" rtl="0" algn="just">
              <a:spcBef>
                <a:spcPts val="0"/>
              </a:spcBef>
              <a:spcAft>
                <a:spcPts val="0"/>
              </a:spcAft>
              <a:buClr>
                <a:schemeClr val="dk1"/>
              </a:buClr>
              <a:buSzPts val="1050"/>
              <a:buFont typeface="Courier New"/>
              <a:buChar char="o"/>
            </a:pPr>
            <a:r>
              <a:rPr lang="en-GB" sz="1050">
                <a:solidFill>
                  <a:schemeClr val="dk1"/>
                </a:solidFill>
                <a:latin typeface="Century Gothic"/>
                <a:ea typeface="Century Gothic"/>
                <a:cs typeface="Century Gothic"/>
                <a:sym typeface="Century Gothic"/>
              </a:rPr>
              <a:t>T</a:t>
            </a:r>
            <a:r>
              <a:rPr b="0" i="0" lang="en-GB" sz="1050">
                <a:solidFill>
                  <a:schemeClr val="dk1"/>
                </a:solidFill>
                <a:latin typeface="Century Gothic"/>
                <a:ea typeface="Century Gothic"/>
                <a:cs typeface="Century Gothic"/>
                <a:sym typeface="Century Gothic"/>
              </a:rPr>
              <a:t>he framework will enhance operational efficiency, foster customer satisfaction, and supports strategic objectives related to business optimization and market disruption.</a:t>
            </a:r>
            <a:endParaRPr/>
          </a:p>
          <a:p>
            <a:pPr indent="0" lvl="0" marL="0" marR="0" rtl="0" algn="just">
              <a:spcBef>
                <a:spcPts val="0"/>
              </a:spcBef>
              <a:spcAft>
                <a:spcPts val="0"/>
              </a:spcAft>
              <a:buNone/>
            </a:pPr>
            <a:r>
              <a:t/>
            </a:r>
            <a:endParaRPr sz="1050">
              <a:solidFill>
                <a:schemeClr val="dk1"/>
              </a:solidFill>
              <a:latin typeface="Century Gothic"/>
              <a:ea typeface="Century Gothic"/>
              <a:cs typeface="Century Gothic"/>
              <a:sym typeface="Century Gothic"/>
            </a:endParaRPr>
          </a:p>
        </p:txBody>
      </p:sp>
      <p:sp>
        <p:nvSpPr>
          <p:cNvPr id="97" name="Google Shape;97;p3"/>
          <p:cNvSpPr txBox="1"/>
          <p:nvPr/>
        </p:nvSpPr>
        <p:spPr>
          <a:xfrm>
            <a:off x="873456" y="377537"/>
            <a:ext cx="201208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entury Gothic"/>
                <a:ea typeface="Century Gothic"/>
                <a:cs typeface="Century Gothic"/>
                <a:sym typeface="Century Gothic"/>
              </a:rPr>
              <a:t>Background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nvSpPr>
        <p:spPr>
          <a:xfrm>
            <a:off x="474910" y="464021"/>
            <a:ext cx="847539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entury Gothic"/>
                <a:ea typeface="Century Gothic"/>
                <a:cs typeface="Century Gothic"/>
                <a:sym typeface="Century Gothic"/>
              </a:rPr>
              <a:t>Product Development Framework: High-Level Worfklow </a:t>
            </a:r>
            <a:endParaRPr/>
          </a:p>
        </p:txBody>
      </p:sp>
      <p:sp>
        <p:nvSpPr>
          <p:cNvPr id="103" name="Google Shape;103;p4"/>
          <p:cNvSpPr/>
          <p:nvPr/>
        </p:nvSpPr>
        <p:spPr>
          <a:xfrm>
            <a:off x="575353" y="2265527"/>
            <a:ext cx="1241946" cy="450376"/>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Channel Awareness</a:t>
            </a:r>
            <a:endParaRPr/>
          </a:p>
        </p:txBody>
      </p:sp>
      <p:sp>
        <p:nvSpPr>
          <p:cNvPr id="104" name="Google Shape;104;p4"/>
          <p:cNvSpPr/>
          <p:nvPr/>
        </p:nvSpPr>
        <p:spPr>
          <a:xfrm>
            <a:off x="2674961" y="2149521"/>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Data Capture</a:t>
            </a:r>
            <a:endParaRPr/>
          </a:p>
        </p:txBody>
      </p:sp>
      <p:sp>
        <p:nvSpPr>
          <p:cNvPr id="105" name="Google Shape;105;p4"/>
          <p:cNvSpPr/>
          <p:nvPr/>
        </p:nvSpPr>
        <p:spPr>
          <a:xfrm>
            <a:off x="4806287" y="2149521"/>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Process Data</a:t>
            </a:r>
            <a:endParaRPr/>
          </a:p>
        </p:txBody>
      </p:sp>
      <p:sp>
        <p:nvSpPr>
          <p:cNvPr id="106" name="Google Shape;106;p4"/>
          <p:cNvSpPr/>
          <p:nvPr/>
        </p:nvSpPr>
        <p:spPr>
          <a:xfrm>
            <a:off x="7126406" y="2149521"/>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Opportunity Evaluation</a:t>
            </a:r>
            <a:endParaRPr/>
          </a:p>
        </p:txBody>
      </p:sp>
      <p:sp>
        <p:nvSpPr>
          <p:cNvPr id="107" name="Google Shape;107;p4"/>
          <p:cNvSpPr/>
          <p:nvPr/>
        </p:nvSpPr>
        <p:spPr>
          <a:xfrm>
            <a:off x="9257732" y="2149521"/>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Validation &amp; Prioritization</a:t>
            </a:r>
            <a:endParaRPr/>
          </a:p>
        </p:txBody>
      </p:sp>
      <p:sp>
        <p:nvSpPr>
          <p:cNvPr id="108" name="Google Shape;108;p4"/>
          <p:cNvSpPr/>
          <p:nvPr/>
        </p:nvSpPr>
        <p:spPr>
          <a:xfrm>
            <a:off x="7126406" y="3609835"/>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Approval from Digital Forum</a:t>
            </a:r>
            <a:endParaRPr/>
          </a:p>
        </p:txBody>
      </p:sp>
      <p:sp>
        <p:nvSpPr>
          <p:cNvPr id="109" name="Google Shape;109;p4"/>
          <p:cNvSpPr/>
          <p:nvPr/>
        </p:nvSpPr>
        <p:spPr>
          <a:xfrm>
            <a:off x="9257732" y="3609835"/>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Business Case Development</a:t>
            </a:r>
            <a:endParaRPr/>
          </a:p>
        </p:txBody>
      </p:sp>
      <p:sp>
        <p:nvSpPr>
          <p:cNvPr id="110" name="Google Shape;110;p4"/>
          <p:cNvSpPr/>
          <p:nvPr/>
        </p:nvSpPr>
        <p:spPr>
          <a:xfrm>
            <a:off x="4806286" y="3609835"/>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POC Development</a:t>
            </a:r>
            <a:endParaRPr/>
          </a:p>
        </p:txBody>
      </p:sp>
      <p:sp>
        <p:nvSpPr>
          <p:cNvPr id="111" name="Google Shape;111;p4"/>
          <p:cNvSpPr/>
          <p:nvPr/>
        </p:nvSpPr>
        <p:spPr>
          <a:xfrm>
            <a:off x="575353" y="3725840"/>
            <a:ext cx="1241946" cy="450376"/>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Re-integration to Business</a:t>
            </a:r>
            <a:endParaRPr/>
          </a:p>
        </p:txBody>
      </p:sp>
      <p:cxnSp>
        <p:nvCxnSpPr>
          <p:cNvPr id="112" name="Google Shape;112;p4"/>
          <p:cNvCxnSpPr/>
          <p:nvPr/>
        </p:nvCxnSpPr>
        <p:spPr>
          <a:xfrm>
            <a:off x="1817299" y="2490715"/>
            <a:ext cx="857662" cy="1"/>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3" name="Google Shape;113;p4"/>
          <p:cNvCxnSpPr/>
          <p:nvPr/>
        </p:nvCxnSpPr>
        <p:spPr>
          <a:xfrm>
            <a:off x="4217158" y="2470244"/>
            <a:ext cx="589129"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4" name="Google Shape;114;p4"/>
          <p:cNvCxnSpPr/>
          <p:nvPr/>
        </p:nvCxnSpPr>
        <p:spPr>
          <a:xfrm>
            <a:off x="6348484" y="2490716"/>
            <a:ext cx="777922"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5" name="Google Shape;115;p4"/>
          <p:cNvCxnSpPr/>
          <p:nvPr/>
        </p:nvCxnSpPr>
        <p:spPr>
          <a:xfrm>
            <a:off x="8668603" y="2470244"/>
            <a:ext cx="589129"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6" name="Google Shape;116;p4"/>
          <p:cNvCxnSpPr>
            <a:stCxn id="107" idx="3"/>
            <a:endCxn id="109" idx="3"/>
          </p:cNvCxnSpPr>
          <p:nvPr/>
        </p:nvCxnSpPr>
        <p:spPr>
          <a:xfrm>
            <a:off x="10799929" y="2490716"/>
            <a:ext cx="600" cy="1460400"/>
          </a:xfrm>
          <a:prstGeom prst="bentConnector3">
            <a:avLst>
              <a:gd fmla="val 38100000" name="adj1"/>
            </a:avLst>
          </a:prstGeom>
          <a:noFill/>
          <a:ln cap="flat" cmpd="sng" w="19050">
            <a:solidFill>
              <a:schemeClr val="accent1"/>
            </a:solidFill>
            <a:prstDash val="solid"/>
            <a:miter lim="800000"/>
            <a:headEnd len="sm" w="sm" type="none"/>
            <a:tailEnd len="med" w="med" type="triangle"/>
          </a:ln>
        </p:spPr>
      </p:cxnSp>
      <p:cxnSp>
        <p:nvCxnSpPr>
          <p:cNvPr id="117" name="Google Shape;117;p4"/>
          <p:cNvCxnSpPr/>
          <p:nvPr/>
        </p:nvCxnSpPr>
        <p:spPr>
          <a:xfrm rot="10800000">
            <a:off x="8668603" y="3951030"/>
            <a:ext cx="589129"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8" name="Google Shape;118;p4"/>
          <p:cNvCxnSpPr/>
          <p:nvPr/>
        </p:nvCxnSpPr>
        <p:spPr>
          <a:xfrm rot="10800000">
            <a:off x="6348483" y="3951030"/>
            <a:ext cx="777923"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19" name="Google Shape;119;p4"/>
          <p:cNvCxnSpPr>
            <a:stCxn id="110" idx="1"/>
            <a:endCxn id="120" idx="3"/>
          </p:cNvCxnSpPr>
          <p:nvPr/>
        </p:nvCxnSpPr>
        <p:spPr>
          <a:xfrm rot="10800000">
            <a:off x="4217086" y="3951030"/>
            <a:ext cx="589200" cy="0"/>
          </a:xfrm>
          <a:prstGeom prst="straightConnector1">
            <a:avLst/>
          </a:prstGeom>
          <a:noFill/>
          <a:ln cap="flat" cmpd="sng" w="19050">
            <a:solidFill>
              <a:schemeClr val="accent1"/>
            </a:solidFill>
            <a:prstDash val="solid"/>
            <a:miter lim="800000"/>
            <a:headEnd len="sm" w="sm" type="none"/>
            <a:tailEnd len="med" w="med" type="triangle"/>
          </a:ln>
        </p:spPr>
      </p:cxnSp>
      <p:sp>
        <p:nvSpPr>
          <p:cNvPr id="120" name="Google Shape;120;p4"/>
          <p:cNvSpPr/>
          <p:nvPr/>
        </p:nvSpPr>
        <p:spPr>
          <a:xfrm>
            <a:off x="2674961" y="3609834"/>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Test &amp; Iterations</a:t>
            </a:r>
            <a:endParaRPr/>
          </a:p>
        </p:txBody>
      </p:sp>
      <p:sp>
        <p:nvSpPr>
          <p:cNvPr id="121" name="Google Shape;121;p4"/>
          <p:cNvSpPr/>
          <p:nvPr/>
        </p:nvSpPr>
        <p:spPr>
          <a:xfrm>
            <a:off x="2674960" y="4749425"/>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Approval of POC</a:t>
            </a:r>
            <a:endParaRPr/>
          </a:p>
        </p:txBody>
      </p:sp>
      <p:cxnSp>
        <p:nvCxnSpPr>
          <p:cNvPr id="122" name="Google Shape;122;p4"/>
          <p:cNvCxnSpPr>
            <a:stCxn id="120" idx="2"/>
            <a:endCxn id="121" idx="0"/>
          </p:cNvCxnSpPr>
          <p:nvPr/>
        </p:nvCxnSpPr>
        <p:spPr>
          <a:xfrm>
            <a:off x="3446060" y="4292223"/>
            <a:ext cx="0" cy="457200"/>
          </a:xfrm>
          <a:prstGeom prst="straightConnector1">
            <a:avLst/>
          </a:prstGeom>
          <a:noFill/>
          <a:ln cap="flat" cmpd="sng" w="19050">
            <a:solidFill>
              <a:schemeClr val="accent1"/>
            </a:solidFill>
            <a:prstDash val="solid"/>
            <a:miter lim="800000"/>
            <a:headEnd len="sm" w="sm" type="none"/>
            <a:tailEnd len="med" w="med" type="triangle"/>
          </a:ln>
        </p:spPr>
      </p:cxnSp>
      <p:cxnSp>
        <p:nvCxnSpPr>
          <p:cNvPr id="123" name="Google Shape;123;p4"/>
          <p:cNvCxnSpPr>
            <a:stCxn id="121" idx="1"/>
            <a:endCxn id="111" idx="2"/>
          </p:cNvCxnSpPr>
          <p:nvPr/>
        </p:nvCxnSpPr>
        <p:spPr>
          <a:xfrm rot="10800000">
            <a:off x="1196260" y="4176220"/>
            <a:ext cx="1478700" cy="914400"/>
          </a:xfrm>
          <a:prstGeom prst="bentConnector2">
            <a:avLst/>
          </a:prstGeom>
          <a:noFill/>
          <a:ln cap="flat" cmpd="sng" w="19050">
            <a:solidFill>
              <a:schemeClr val="accent1"/>
            </a:solidFill>
            <a:prstDash val="solid"/>
            <a:miter lim="800000"/>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txBox="1"/>
          <p:nvPr/>
        </p:nvSpPr>
        <p:spPr>
          <a:xfrm>
            <a:off x="873456" y="518614"/>
            <a:ext cx="580474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dk1"/>
                </a:solidFill>
                <a:latin typeface="Century Gothic"/>
                <a:ea typeface="Century Gothic"/>
                <a:cs typeface="Century Gothic"/>
                <a:sym typeface="Century Gothic"/>
              </a:rPr>
              <a:t>Idea Collection Sources</a:t>
            </a:r>
            <a:endParaRPr/>
          </a:p>
          <a:p>
            <a:pPr indent="0" lvl="0" marL="0" marR="0" rtl="0" algn="l">
              <a:spcBef>
                <a:spcPts val="0"/>
              </a:spcBef>
              <a:spcAft>
                <a:spcPts val="0"/>
              </a:spcAft>
              <a:buNone/>
            </a:pPr>
            <a:br>
              <a:rPr lang="en-GB" sz="1800">
                <a:solidFill>
                  <a:schemeClr val="dk1"/>
                </a:solidFill>
                <a:latin typeface="Century Gothic"/>
                <a:ea typeface="Century Gothic"/>
                <a:cs typeface="Century Gothic"/>
                <a:sym typeface="Century Gothic"/>
              </a:rPr>
            </a:br>
            <a:r>
              <a:rPr lang="en-GB" sz="1800">
                <a:solidFill>
                  <a:schemeClr val="dk1"/>
                </a:solidFill>
                <a:latin typeface="Century Gothic"/>
                <a:ea typeface="Century Gothic"/>
                <a:cs typeface="Century Gothic"/>
                <a:sym typeface="Century Gothic"/>
              </a:rPr>
              <a:t>T</a:t>
            </a:r>
            <a:r>
              <a:rPr b="0" i="0" lang="en-GB" sz="1800">
                <a:solidFill>
                  <a:schemeClr val="dk1"/>
                </a:solidFill>
                <a:latin typeface="Century Gothic"/>
                <a:ea typeface="Century Gothic"/>
                <a:cs typeface="Century Gothic"/>
                <a:sym typeface="Century Gothic"/>
              </a:rPr>
              <a:t>here will be four sources of ideas and user stories</a:t>
            </a:r>
            <a:r>
              <a:rPr lang="en-GB" sz="1800">
                <a:solidFill>
                  <a:schemeClr val="dk1"/>
                </a:solidFill>
                <a:latin typeface="Century Gothic"/>
                <a:ea typeface="Century Gothic"/>
                <a:cs typeface="Century Gothic"/>
                <a:sym typeface="Century Gothic"/>
              </a:rPr>
              <a:t>. </a:t>
            </a:r>
            <a:endParaRPr/>
          </a:p>
          <a:p>
            <a:pPr indent="0" lvl="0" marL="0" marR="0" rtl="0" algn="l">
              <a:spcBef>
                <a:spcPts val="0"/>
              </a:spcBef>
              <a:spcAft>
                <a:spcPts val="0"/>
              </a:spcAft>
              <a:buNone/>
            </a:pPr>
            <a:r>
              <a:rPr b="0" i="0" lang="en-GB" sz="1800">
                <a:solidFill>
                  <a:schemeClr val="dk1"/>
                </a:solidFill>
                <a:latin typeface="Century Gothic"/>
                <a:ea typeface="Century Gothic"/>
                <a:cs typeface="Century Gothic"/>
                <a:sym typeface="Century Gothic"/>
              </a:rPr>
              <a:t>The goal to make idea collection a continuous exercise that runs in the organization all year round. </a:t>
            </a:r>
            <a:endParaRPr sz="1800">
              <a:solidFill>
                <a:schemeClr val="dk1"/>
              </a:solidFill>
              <a:latin typeface="Century Gothic"/>
              <a:ea typeface="Century Gothic"/>
              <a:cs typeface="Century Gothic"/>
              <a:sym typeface="Century Gothic"/>
            </a:endParaRPr>
          </a:p>
        </p:txBody>
      </p:sp>
      <p:sp>
        <p:nvSpPr>
          <p:cNvPr id="129" name="Google Shape;129;p5"/>
          <p:cNvSpPr txBox="1"/>
          <p:nvPr/>
        </p:nvSpPr>
        <p:spPr>
          <a:xfrm>
            <a:off x="1070468" y="4689454"/>
            <a:ext cx="894797"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GB" sz="1400">
                <a:solidFill>
                  <a:schemeClr val="dk1"/>
                </a:solidFill>
                <a:latin typeface="Century Gothic"/>
                <a:ea typeface="Century Gothic"/>
                <a:cs typeface="Century Gothic"/>
                <a:sym typeface="Century Gothic"/>
              </a:rPr>
              <a:t>Incident</a:t>
            </a:r>
            <a:endParaRPr/>
          </a:p>
          <a:p>
            <a:pPr indent="0" lvl="0" marL="0" marR="0" rtl="0" algn="ctr">
              <a:spcBef>
                <a:spcPts val="0"/>
              </a:spcBef>
              <a:spcAft>
                <a:spcPts val="0"/>
              </a:spcAft>
              <a:buNone/>
            </a:pPr>
            <a:r>
              <a:rPr b="0" i="0" lang="en-GB" sz="1400">
                <a:solidFill>
                  <a:schemeClr val="dk1"/>
                </a:solidFill>
                <a:latin typeface="Century Gothic"/>
                <a:ea typeface="Century Gothic"/>
                <a:cs typeface="Century Gothic"/>
                <a:sym typeface="Century Gothic"/>
              </a:rPr>
              <a:t>Reports </a:t>
            </a:r>
            <a:endParaRPr/>
          </a:p>
        </p:txBody>
      </p:sp>
      <p:pic>
        <p:nvPicPr>
          <p:cNvPr id="130" name="Google Shape;130;p5"/>
          <p:cNvPicPr preferRelativeResize="0"/>
          <p:nvPr/>
        </p:nvPicPr>
        <p:blipFill rotWithShape="1">
          <a:blip r:embed="rId3">
            <a:alphaModFix/>
          </a:blip>
          <a:srcRect b="0" l="0" r="0" t="0"/>
          <a:stretch/>
        </p:blipFill>
        <p:spPr>
          <a:xfrm>
            <a:off x="1017142" y="3493825"/>
            <a:ext cx="1001451" cy="1001451"/>
          </a:xfrm>
          <a:prstGeom prst="rect">
            <a:avLst/>
          </a:prstGeom>
          <a:noFill/>
          <a:ln>
            <a:noFill/>
          </a:ln>
        </p:spPr>
      </p:pic>
      <p:pic>
        <p:nvPicPr>
          <p:cNvPr id="131" name="Google Shape;131;p5"/>
          <p:cNvPicPr preferRelativeResize="0"/>
          <p:nvPr/>
        </p:nvPicPr>
        <p:blipFill rotWithShape="1">
          <a:blip r:embed="rId4">
            <a:alphaModFix/>
          </a:blip>
          <a:srcRect b="0" l="0" r="0" t="0"/>
          <a:stretch/>
        </p:blipFill>
        <p:spPr>
          <a:xfrm>
            <a:off x="3546480" y="3493825"/>
            <a:ext cx="1131099" cy="1131099"/>
          </a:xfrm>
          <a:prstGeom prst="rect">
            <a:avLst/>
          </a:prstGeom>
          <a:noFill/>
          <a:ln>
            <a:noFill/>
          </a:ln>
        </p:spPr>
      </p:pic>
      <p:sp>
        <p:nvSpPr>
          <p:cNvPr id="132" name="Google Shape;132;p5"/>
          <p:cNvSpPr txBox="1"/>
          <p:nvPr/>
        </p:nvSpPr>
        <p:spPr>
          <a:xfrm>
            <a:off x="3128428" y="4689454"/>
            <a:ext cx="196720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GB" sz="1400">
                <a:solidFill>
                  <a:schemeClr val="dk1"/>
                </a:solidFill>
                <a:latin typeface="Century Gothic"/>
                <a:ea typeface="Century Gothic"/>
                <a:cs typeface="Century Gothic"/>
                <a:sym typeface="Century Gothic"/>
              </a:rPr>
              <a:t>Innovation Programs</a:t>
            </a:r>
            <a:endParaRPr/>
          </a:p>
          <a:p>
            <a:pPr indent="0" lvl="0" marL="0" marR="0" rtl="0" algn="ctr">
              <a:spcBef>
                <a:spcPts val="0"/>
              </a:spcBef>
              <a:spcAft>
                <a:spcPts val="0"/>
              </a:spcAft>
              <a:buNone/>
            </a:pPr>
            <a:r>
              <a:rPr lang="en-GB" sz="1400">
                <a:solidFill>
                  <a:schemeClr val="dk1"/>
                </a:solidFill>
                <a:latin typeface="Century Gothic"/>
                <a:ea typeface="Century Gothic"/>
                <a:cs typeface="Century Gothic"/>
                <a:sym typeface="Century Gothic"/>
              </a:rPr>
              <a:t>e.g. Hackathons</a:t>
            </a:r>
            <a:endParaRPr b="0" i="0" sz="1400">
              <a:solidFill>
                <a:schemeClr val="dk1"/>
              </a:solidFill>
              <a:latin typeface="Century Gothic"/>
              <a:ea typeface="Century Gothic"/>
              <a:cs typeface="Century Gothic"/>
              <a:sym typeface="Century Gothic"/>
            </a:endParaRPr>
          </a:p>
        </p:txBody>
      </p:sp>
      <p:pic>
        <p:nvPicPr>
          <p:cNvPr id="133" name="Google Shape;133;p5"/>
          <p:cNvPicPr preferRelativeResize="0"/>
          <p:nvPr/>
        </p:nvPicPr>
        <p:blipFill rotWithShape="1">
          <a:blip r:embed="rId5">
            <a:alphaModFix/>
          </a:blip>
          <a:srcRect b="0" l="0" r="0" t="0"/>
          <a:stretch/>
        </p:blipFill>
        <p:spPr>
          <a:xfrm>
            <a:off x="6168037" y="3429000"/>
            <a:ext cx="1131099" cy="1131099"/>
          </a:xfrm>
          <a:prstGeom prst="rect">
            <a:avLst/>
          </a:prstGeom>
          <a:noFill/>
          <a:ln>
            <a:noFill/>
          </a:ln>
        </p:spPr>
      </p:pic>
      <p:sp>
        <p:nvSpPr>
          <p:cNvPr id="134" name="Google Shape;134;p5"/>
          <p:cNvSpPr txBox="1"/>
          <p:nvPr/>
        </p:nvSpPr>
        <p:spPr>
          <a:xfrm>
            <a:off x="6147174" y="4689454"/>
            <a:ext cx="1691489"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GB" sz="1400">
                <a:solidFill>
                  <a:schemeClr val="dk1"/>
                </a:solidFill>
                <a:latin typeface="Century Gothic"/>
                <a:ea typeface="Century Gothic"/>
                <a:cs typeface="Century Gothic"/>
                <a:sym typeface="Century Gothic"/>
              </a:rPr>
              <a:t>Strategic Business</a:t>
            </a:r>
            <a:endParaRPr/>
          </a:p>
          <a:p>
            <a:pPr indent="0" lvl="0" marL="0" marR="0" rtl="0" algn="ctr">
              <a:spcBef>
                <a:spcPts val="0"/>
              </a:spcBef>
              <a:spcAft>
                <a:spcPts val="0"/>
              </a:spcAft>
              <a:buNone/>
            </a:pPr>
            <a:r>
              <a:rPr lang="en-GB" sz="1400">
                <a:solidFill>
                  <a:schemeClr val="dk1"/>
                </a:solidFill>
                <a:latin typeface="Century Gothic"/>
                <a:ea typeface="Century Gothic"/>
                <a:cs typeface="Century Gothic"/>
                <a:sym typeface="Century Gothic"/>
              </a:rPr>
              <a:t>D</a:t>
            </a:r>
            <a:r>
              <a:rPr b="0" i="0" lang="en-GB" sz="1400">
                <a:solidFill>
                  <a:schemeClr val="dk1"/>
                </a:solidFill>
                <a:latin typeface="Century Gothic"/>
                <a:ea typeface="Century Gothic"/>
                <a:cs typeface="Century Gothic"/>
                <a:sym typeface="Century Gothic"/>
              </a:rPr>
              <a:t>ecisions</a:t>
            </a:r>
            <a:endParaRPr/>
          </a:p>
        </p:txBody>
      </p:sp>
      <p:pic>
        <p:nvPicPr>
          <p:cNvPr id="135" name="Google Shape;135;p5"/>
          <p:cNvPicPr preferRelativeResize="0"/>
          <p:nvPr/>
        </p:nvPicPr>
        <p:blipFill rotWithShape="1">
          <a:blip r:embed="rId6">
            <a:alphaModFix/>
          </a:blip>
          <a:srcRect b="0" l="0" r="0" t="0"/>
          <a:stretch/>
        </p:blipFill>
        <p:spPr>
          <a:xfrm>
            <a:off x="9130788" y="3429000"/>
            <a:ext cx="1131099" cy="1131099"/>
          </a:xfrm>
          <a:prstGeom prst="rect">
            <a:avLst/>
          </a:prstGeom>
          <a:noFill/>
          <a:ln>
            <a:noFill/>
          </a:ln>
        </p:spPr>
      </p:pic>
      <p:sp>
        <p:nvSpPr>
          <p:cNvPr id="136" name="Google Shape;136;p5"/>
          <p:cNvSpPr txBox="1"/>
          <p:nvPr/>
        </p:nvSpPr>
        <p:spPr>
          <a:xfrm>
            <a:off x="8577619" y="4689454"/>
            <a:ext cx="231666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GB" sz="1400">
                <a:solidFill>
                  <a:schemeClr val="dk1"/>
                </a:solidFill>
                <a:latin typeface="Century Gothic"/>
                <a:ea typeface="Century Gothic"/>
                <a:cs typeface="Century Gothic"/>
                <a:sym typeface="Century Gothic"/>
              </a:rPr>
              <a:t>Digital Suggestion Box &amp; </a:t>
            </a:r>
            <a:endParaRPr/>
          </a:p>
          <a:p>
            <a:pPr indent="0" lvl="0" marL="0" marR="0" rtl="0" algn="ctr">
              <a:spcBef>
                <a:spcPts val="0"/>
              </a:spcBef>
              <a:spcAft>
                <a:spcPts val="0"/>
              </a:spcAft>
              <a:buNone/>
            </a:pPr>
            <a:r>
              <a:rPr b="0" i="0" lang="en-GB" sz="1400">
                <a:solidFill>
                  <a:schemeClr val="dk1"/>
                </a:solidFill>
                <a:latin typeface="Century Gothic"/>
                <a:ea typeface="Century Gothic"/>
                <a:cs typeface="Century Gothic"/>
                <a:sym typeface="Century Gothic"/>
              </a:rPr>
              <a:t>Customer Feedback</a:t>
            </a:r>
            <a:endParaRPr/>
          </a:p>
        </p:txBody>
      </p:sp>
      <p:grpSp>
        <p:nvGrpSpPr>
          <p:cNvPr id="137" name="Google Shape;137;p5"/>
          <p:cNvGrpSpPr/>
          <p:nvPr/>
        </p:nvGrpSpPr>
        <p:grpSpPr>
          <a:xfrm>
            <a:off x="7613307" y="831761"/>
            <a:ext cx="3133410" cy="2038208"/>
            <a:chOff x="7561936" y="1122511"/>
            <a:chExt cx="3133410" cy="2481997"/>
          </a:xfrm>
        </p:grpSpPr>
        <p:pic>
          <p:nvPicPr>
            <p:cNvPr id="138" name="Google Shape;138;p5"/>
            <p:cNvPicPr preferRelativeResize="0"/>
            <p:nvPr/>
          </p:nvPicPr>
          <p:blipFill rotWithShape="1">
            <a:blip r:embed="rId7">
              <a:alphaModFix/>
            </a:blip>
            <a:srcRect b="0" l="0" r="0" t="0"/>
            <a:stretch/>
          </p:blipFill>
          <p:spPr>
            <a:xfrm>
              <a:off x="7561936" y="1122511"/>
              <a:ext cx="3133410" cy="2481997"/>
            </a:xfrm>
            <a:prstGeom prst="rect">
              <a:avLst/>
            </a:prstGeom>
            <a:noFill/>
            <a:ln>
              <a:noFill/>
            </a:ln>
          </p:spPr>
        </p:pic>
        <p:sp>
          <p:nvSpPr>
            <p:cNvPr id="139" name="Google Shape;139;p5"/>
            <p:cNvSpPr txBox="1"/>
            <p:nvPr/>
          </p:nvSpPr>
          <p:spPr>
            <a:xfrm>
              <a:off x="7737217" y="1440180"/>
              <a:ext cx="278295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Radley"/>
                  <a:ea typeface="Radley"/>
                  <a:cs typeface="Radley"/>
                  <a:sym typeface="Radley"/>
                </a:rPr>
                <a:t>As a </a:t>
              </a:r>
              <a:r>
                <a:rPr lang="en-GB" sz="1800" u="sng">
                  <a:solidFill>
                    <a:schemeClr val="dk1"/>
                  </a:solidFill>
                  <a:highlight>
                    <a:srgbClr val="FFFF00"/>
                  </a:highlight>
                  <a:latin typeface="Radley"/>
                  <a:ea typeface="Radley"/>
                  <a:cs typeface="Radley"/>
                  <a:sym typeface="Radley"/>
                </a:rPr>
                <a:t>(stakeholder)…,</a:t>
              </a:r>
              <a:endParaRPr/>
            </a:p>
            <a:p>
              <a:pPr indent="0" lvl="0" marL="0" marR="0" rtl="0" algn="l">
                <a:spcBef>
                  <a:spcPts val="0"/>
                </a:spcBef>
                <a:spcAft>
                  <a:spcPts val="0"/>
                </a:spcAft>
                <a:buNone/>
              </a:pPr>
              <a:r>
                <a:rPr lang="en-GB" sz="1800">
                  <a:solidFill>
                    <a:schemeClr val="dk1"/>
                  </a:solidFill>
                  <a:latin typeface="Radley"/>
                  <a:ea typeface="Radley"/>
                  <a:cs typeface="Radley"/>
                  <a:sym typeface="Radley"/>
                </a:rPr>
                <a:t>I want to </a:t>
              </a:r>
              <a:r>
                <a:rPr lang="en-GB" sz="1800" u="sng">
                  <a:solidFill>
                    <a:schemeClr val="dk1"/>
                  </a:solidFill>
                  <a:highlight>
                    <a:srgbClr val="FFFF00"/>
                  </a:highlight>
                  <a:latin typeface="Radley"/>
                  <a:ea typeface="Radley"/>
                  <a:cs typeface="Radley"/>
                  <a:sym typeface="Radley"/>
                </a:rPr>
                <a:t>(task)…,</a:t>
              </a:r>
              <a:endParaRPr/>
            </a:p>
            <a:p>
              <a:pPr indent="0" lvl="0" marL="0" marR="0" rtl="0" algn="l">
                <a:spcBef>
                  <a:spcPts val="0"/>
                </a:spcBef>
                <a:spcAft>
                  <a:spcPts val="0"/>
                </a:spcAft>
                <a:buNone/>
              </a:pPr>
              <a:r>
                <a:rPr lang="en-GB" sz="1800">
                  <a:solidFill>
                    <a:schemeClr val="dk1"/>
                  </a:solidFill>
                  <a:latin typeface="Radley"/>
                  <a:ea typeface="Radley"/>
                  <a:cs typeface="Radley"/>
                  <a:sym typeface="Radley"/>
                </a:rPr>
                <a:t>So that </a:t>
              </a:r>
              <a:r>
                <a:rPr lang="en-GB" sz="1800" u="sng">
                  <a:solidFill>
                    <a:srgbClr val="002060"/>
                  </a:solidFill>
                  <a:highlight>
                    <a:srgbClr val="FFFF00"/>
                  </a:highlight>
                  <a:latin typeface="Radley"/>
                  <a:ea typeface="Radley"/>
                  <a:cs typeface="Radley"/>
                  <a:sym typeface="Radley"/>
                </a:rPr>
                <a:t>(desired result)…,</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nvSpPr>
        <p:spPr>
          <a:xfrm>
            <a:off x="746589" y="1962860"/>
            <a:ext cx="6100548" cy="17851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100">
                <a:solidFill>
                  <a:schemeClr val="dk1"/>
                </a:solidFill>
                <a:latin typeface="Century Gothic"/>
                <a:ea typeface="Century Gothic"/>
                <a:cs typeface="Century Gothic"/>
                <a:sym typeface="Century Gothic"/>
              </a:rPr>
              <a:t>User stories and ideas will be captured using a form designed and hosted on a portal.</a:t>
            </a:r>
            <a:endParaRPr/>
          </a:p>
          <a:p>
            <a:pPr indent="0" lvl="0" marL="0" marR="0" rtl="0" algn="l">
              <a:spcBef>
                <a:spcPts val="0"/>
              </a:spcBef>
              <a:spcAft>
                <a:spcPts val="0"/>
              </a:spcAft>
              <a:buNone/>
            </a:pPr>
            <a:r>
              <a:t/>
            </a:r>
            <a:endParaRPr sz="11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0" i="0" lang="en-GB" sz="1100">
                <a:solidFill>
                  <a:schemeClr val="dk1"/>
                </a:solidFill>
                <a:latin typeface="Century Gothic"/>
                <a:ea typeface="Century Gothic"/>
                <a:cs typeface="Century Gothic"/>
                <a:sym typeface="Century Gothic"/>
              </a:rPr>
              <a:t>Ideas and user stories from incident reports and business strategic decisions will be generated by internal personnel/staff. </a:t>
            </a:r>
            <a:endParaRPr/>
          </a:p>
          <a:p>
            <a:pPr indent="0" lvl="0" marL="0" marR="0" rtl="0" algn="l">
              <a:spcBef>
                <a:spcPts val="0"/>
              </a:spcBef>
              <a:spcAft>
                <a:spcPts val="0"/>
              </a:spcAft>
              <a:buNone/>
            </a:pPr>
            <a:r>
              <a:t/>
            </a:r>
            <a:endParaRPr sz="11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0" i="0" lang="en-GB" sz="1100">
                <a:solidFill>
                  <a:schemeClr val="dk1"/>
                </a:solidFill>
                <a:latin typeface="Century Gothic"/>
                <a:ea typeface="Century Gothic"/>
                <a:cs typeface="Century Gothic"/>
                <a:sym typeface="Century Gothic"/>
              </a:rPr>
              <a:t>Ideas from innovation programs such as hackathons will be generated both from staff at staff hackathons and externally from innovators during open innovation programs and competitions Digital Suggestion Boxes will be hosted on the company´s website with QR Codes displayed across the physical branches and digital channels to allow customers to submit their user stories.</a:t>
            </a:r>
            <a:endParaRPr sz="1100">
              <a:solidFill>
                <a:schemeClr val="dk1"/>
              </a:solidFill>
              <a:latin typeface="Century Gothic"/>
              <a:ea typeface="Century Gothic"/>
              <a:cs typeface="Century Gothic"/>
              <a:sym typeface="Century Gothic"/>
            </a:endParaRPr>
          </a:p>
        </p:txBody>
      </p:sp>
      <p:sp>
        <p:nvSpPr>
          <p:cNvPr id="145" name="Google Shape;145;p6"/>
          <p:cNvSpPr txBox="1"/>
          <p:nvPr/>
        </p:nvSpPr>
        <p:spPr>
          <a:xfrm>
            <a:off x="656092" y="556893"/>
            <a:ext cx="341471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entury Gothic"/>
                <a:ea typeface="Century Gothic"/>
                <a:cs typeface="Century Gothic"/>
                <a:sym typeface="Century Gothic"/>
              </a:rPr>
              <a:t>Capturing User Stories</a:t>
            </a:r>
            <a:endParaRPr/>
          </a:p>
        </p:txBody>
      </p:sp>
      <p:grpSp>
        <p:nvGrpSpPr>
          <p:cNvPr id="146" name="Google Shape;146;p6"/>
          <p:cNvGrpSpPr/>
          <p:nvPr/>
        </p:nvGrpSpPr>
        <p:grpSpPr>
          <a:xfrm>
            <a:off x="8312001" y="1363481"/>
            <a:ext cx="3133410" cy="2481997"/>
            <a:chOff x="8260630" y="1654232"/>
            <a:chExt cx="3133410" cy="2481997"/>
          </a:xfrm>
        </p:grpSpPr>
        <p:pic>
          <p:nvPicPr>
            <p:cNvPr id="147" name="Google Shape;147;p6"/>
            <p:cNvPicPr preferRelativeResize="0"/>
            <p:nvPr/>
          </p:nvPicPr>
          <p:blipFill rotWithShape="1">
            <a:blip r:embed="rId3">
              <a:alphaModFix/>
            </a:blip>
            <a:srcRect b="0" l="0" r="0" t="0"/>
            <a:stretch/>
          </p:blipFill>
          <p:spPr>
            <a:xfrm>
              <a:off x="8260630" y="1654232"/>
              <a:ext cx="3133410" cy="2481997"/>
            </a:xfrm>
            <a:prstGeom prst="rect">
              <a:avLst/>
            </a:prstGeom>
            <a:noFill/>
            <a:ln>
              <a:noFill/>
            </a:ln>
          </p:spPr>
        </p:pic>
        <p:sp>
          <p:nvSpPr>
            <p:cNvPr id="148" name="Google Shape;148;p6"/>
            <p:cNvSpPr txBox="1"/>
            <p:nvPr/>
          </p:nvSpPr>
          <p:spPr>
            <a:xfrm>
              <a:off x="8435860" y="2253611"/>
              <a:ext cx="278295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Radley"/>
                  <a:ea typeface="Radley"/>
                  <a:cs typeface="Radley"/>
                  <a:sym typeface="Radley"/>
                </a:rPr>
                <a:t>As a </a:t>
              </a:r>
              <a:r>
                <a:rPr lang="en-GB" sz="1800" u="sng">
                  <a:solidFill>
                    <a:schemeClr val="dk1"/>
                  </a:solidFill>
                  <a:highlight>
                    <a:srgbClr val="FFFF00"/>
                  </a:highlight>
                  <a:latin typeface="Radley"/>
                  <a:ea typeface="Radley"/>
                  <a:cs typeface="Radley"/>
                  <a:sym typeface="Radley"/>
                </a:rPr>
                <a:t>(stakeholder)…,</a:t>
              </a:r>
              <a:endParaRPr/>
            </a:p>
            <a:p>
              <a:pPr indent="0" lvl="0" marL="0" marR="0" rtl="0" algn="l">
                <a:spcBef>
                  <a:spcPts val="0"/>
                </a:spcBef>
                <a:spcAft>
                  <a:spcPts val="0"/>
                </a:spcAft>
                <a:buNone/>
              </a:pPr>
              <a:r>
                <a:rPr lang="en-GB" sz="1800">
                  <a:solidFill>
                    <a:schemeClr val="dk1"/>
                  </a:solidFill>
                  <a:latin typeface="Radley"/>
                  <a:ea typeface="Radley"/>
                  <a:cs typeface="Radley"/>
                  <a:sym typeface="Radley"/>
                </a:rPr>
                <a:t>I want to </a:t>
              </a:r>
              <a:r>
                <a:rPr lang="en-GB" sz="1800" u="sng">
                  <a:solidFill>
                    <a:schemeClr val="dk1"/>
                  </a:solidFill>
                  <a:highlight>
                    <a:srgbClr val="FFFF00"/>
                  </a:highlight>
                  <a:latin typeface="Radley"/>
                  <a:ea typeface="Radley"/>
                  <a:cs typeface="Radley"/>
                  <a:sym typeface="Radley"/>
                </a:rPr>
                <a:t>(task)…,</a:t>
              </a:r>
              <a:endParaRPr/>
            </a:p>
            <a:p>
              <a:pPr indent="0" lvl="0" marL="0" marR="0" rtl="0" algn="l">
                <a:spcBef>
                  <a:spcPts val="0"/>
                </a:spcBef>
                <a:spcAft>
                  <a:spcPts val="0"/>
                </a:spcAft>
                <a:buNone/>
              </a:pPr>
              <a:r>
                <a:rPr lang="en-GB" sz="1800">
                  <a:solidFill>
                    <a:schemeClr val="dk1"/>
                  </a:solidFill>
                  <a:latin typeface="Radley"/>
                  <a:ea typeface="Radley"/>
                  <a:cs typeface="Radley"/>
                  <a:sym typeface="Radley"/>
                </a:rPr>
                <a:t>So that </a:t>
              </a:r>
              <a:r>
                <a:rPr lang="en-GB" sz="1800" u="sng">
                  <a:solidFill>
                    <a:srgbClr val="002060"/>
                  </a:solidFill>
                  <a:highlight>
                    <a:srgbClr val="FFFF00"/>
                  </a:highlight>
                  <a:latin typeface="Radley"/>
                  <a:ea typeface="Radley"/>
                  <a:cs typeface="Radley"/>
                  <a:sym typeface="Radley"/>
                </a:rPr>
                <a:t>(desired result)…,</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7"/>
          <p:cNvSpPr/>
          <p:nvPr/>
        </p:nvSpPr>
        <p:spPr>
          <a:xfrm>
            <a:off x="630710" y="5377218"/>
            <a:ext cx="1965278" cy="415498"/>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54" name="Google Shape;154;p7"/>
          <p:cNvGraphicFramePr/>
          <p:nvPr/>
        </p:nvGraphicFramePr>
        <p:xfrm>
          <a:off x="3440990" y="796842"/>
          <a:ext cx="3000000" cy="3000000"/>
        </p:xfrm>
        <a:graphic>
          <a:graphicData uri="http://schemas.openxmlformats.org/drawingml/2006/table">
            <a:tbl>
              <a:tblPr>
                <a:noFill/>
                <a:tableStyleId>{2D9D0671-3B3A-4BBB-9704-2ACD332EF75A}</a:tableStyleId>
              </a:tblPr>
              <a:tblGrid>
                <a:gridCol w="3406450"/>
                <a:gridCol w="4356225"/>
              </a:tblGrid>
              <a:tr h="432525">
                <a:tc>
                  <a:txBody>
                    <a:bodyPr/>
                    <a:lstStyle/>
                    <a:p>
                      <a:pPr indent="0" lvl="0" marL="0" marR="0" rtl="0" algn="l">
                        <a:spcBef>
                          <a:spcPts val="0"/>
                        </a:spcBef>
                        <a:spcAft>
                          <a:spcPts val="0"/>
                        </a:spcAft>
                        <a:buNone/>
                      </a:pPr>
                      <a:r>
                        <a:rPr b="1" lang="en-GB" sz="1100" u="none" cap="none" strike="noStrike">
                          <a:solidFill>
                            <a:schemeClr val="lt1"/>
                          </a:solidFill>
                          <a:latin typeface="Century Gothic"/>
                          <a:ea typeface="Century Gothic"/>
                          <a:cs typeface="Century Gothic"/>
                          <a:sym typeface="Century Gothic"/>
                        </a:rPr>
                        <a:t>Category</a:t>
                      </a:r>
                      <a:endParaRPr/>
                    </a:p>
                  </a:txBody>
                  <a:tcPr marT="80100" marB="80100" marR="120150" marL="16020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7C6C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1100" u="none" cap="none" strike="noStrike">
                          <a:solidFill>
                            <a:schemeClr val="lt1"/>
                          </a:solidFill>
                          <a:latin typeface="Century Gothic"/>
                          <a:ea typeface="Century Gothic"/>
                          <a:cs typeface="Century Gothic"/>
                          <a:sym typeface="Century Gothic"/>
                        </a:rPr>
                        <a:t>Criteria</a:t>
                      </a:r>
                      <a:endParaRPr/>
                    </a:p>
                  </a:txBody>
                  <a:tcPr marT="80100" marB="80100" marR="120150" marL="160200"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C7C6C1"/>
                      </a:solidFill>
                      <a:prstDash val="solid"/>
                      <a:round/>
                      <a:headEnd len="sm" w="sm" type="none"/>
                      <a:tailEnd len="sm" w="sm" type="none"/>
                    </a:lnB>
                    <a:solidFill>
                      <a:srgbClr val="002060"/>
                    </a:solidFill>
                  </a:tcPr>
                </a:tc>
              </a:tr>
              <a:tr h="1059975">
                <a:tc>
                  <a:txBody>
                    <a:bodyPr/>
                    <a:lstStyle/>
                    <a:p>
                      <a:pPr indent="0" lvl="0" marL="0" marR="0" rtl="0" algn="l">
                        <a:spcBef>
                          <a:spcPts val="0"/>
                        </a:spcBef>
                        <a:spcAft>
                          <a:spcPts val="0"/>
                        </a:spcAft>
                        <a:buNone/>
                      </a:pPr>
                      <a:r>
                        <a:rPr b="1" lang="en-GB" sz="1100" u="none" cap="none" strike="noStrike">
                          <a:solidFill>
                            <a:srgbClr val="3F3F3F"/>
                          </a:solidFill>
                          <a:latin typeface="Century Gothic"/>
                          <a:ea typeface="Century Gothic"/>
                          <a:cs typeface="Century Gothic"/>
                          <a:sym typeface="Century Gothic"/>
                        </a:rPr>
                        <a:t>New Product/Service</a:t>
                      </a:r>
                      <a:endParaRPr/>
                    </a:p>
                  </a:txBody>
                  <a:tcPr marT="80100" marB="80100" marR="120150" marL="160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C6C1"/>
                      </a:solidFill>
                      <a:prstDash val="solid"/>
                      <a:round/>
                      <a:headEnd len="sm" w="sm" type="none"/>
                      <a:tailEnd len="sm" w="sm" type="none"/>
                    </a:lnT>
                    <a:lnB cap="flat" cmpd="sng" w="9525">
                      <a:solidFill>
                        <a:srgbClr val="C7C6C1"/>
                      </a:solidFill>
                      <a:prstDash val="solid"/>
                      <a:round/>
                      <a:headEnd len="sm" w="sm" type="none"/>
                      <a:tailEnd len="sm" w="sm" type="none"/>
                    </a:lnB>
                  </a:tcPr>
                </a:tc>
                <a:tc>
                  <a:txBody>
                    <a:bodyPr/>
                    <a:lstStyle/>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Proposes a completely new offering or solution</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Addresses an unmet need or creates a new market opportunity.</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Demonstrates potential for significant business impact and revenue generation</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Requires substantial development effort and resources.</a:t>
                      </a:r>
                      <a:endParaRPr/>
                    </a:p>
                  </a:txBody>
                  <a:tcPr marT="80100" marB="80100" marR="120150" marL="160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C6C1"/>
                      </a:solidFill>
                      <a:prstDash val="solid"/>
                      <a:round/>
                      <a:headEnd len="sm" w="sm" type="none"/>
                      <a:tailEnd len="sm" w="sm" type="none"/>
                    </a:lnT>
                    <a:lnB cap="flat" cmpd="sng" w="9525">
                      <a:solidFill>
                        <a:srgbClr val="C7C6C1"/>
                      </a:solidFill>
                      <a:prstDash val="solid"/>
                      <a:round/>
                      <a:headEnd len="sm" w="sm" type="none"/>
                      <a:tailEnd len="sm" w="sm" type="none"/>
                    </a:lnB>
                  </a:tcPr>
                </a:tc>
              </a:tr>
              <a:tr h="886425">
                <a:tc>
                  <a:txBody>
                    <a:bodyPr/>
                    <a:lstStyle/>
                    <a:p>
                      <a:pPr indent="0" lvl="0" marL="0" marR="0" rtl="0" algn="l">
                        <a:spcBef>
                          <a:spcPts val="0"/>
                        </a:spcBef>
                        <a:spcAft>
                          <a:spcPts val="0"/>
                        </a:spcAft>
                        <a:buNone/>
                      </a:pPr>
                      <a:r>
                        <a:rPr b="1" lang="en-GB" sz="1100" u="none" cap="none" strike="noStrike">
                          <a:solidFill>
                            <a:srgbClr val="3F3F3F"/>
                          </a:solidFill>
                          <a:latin typeface="Century Gothic"/>
                          <a:ea typeface="Century Gothic"/>
                          <a:cs typeface="Century Gothic"/>
                          <a:sym typeface="Century Gothic"/>
                        </a:rPr>
                        <a:t>New Product/Service Feature</a:t>
                      </a:r>
                      <a:endParaRPr/>
                    </a:p>
                  </a:txBody>
                  <a:tcPr marT="80100" marB="80100" marR="120150" marL="160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C6C1"/>
                      </a:solidFill>
                      <a:prstDash val="solid"/>
                      <a:round/>
                      <a:headEnd len="sm" w="sm" type="none"/>
                      <a:tailEnd len="sm" w="sm" type="none"/>
                    </a:lnT>
                    <a:lnB cap="flat" cmpd="sng" w="9525">
                      <a:solidFill>
                        <a:srgbClr val="C7C6C1"/>
                      </a:solidFill>
                      <a:prstDash val="solid"/>
                      <a:round/>
                      <a:headEnd len="sm" w="sm" type="none"/>
                      <a:tailEnd len="sm" w="sm" type="none"/>
                    </a:lnB>
                  </a:tcPr>
                </a:tc>
                <a:tc>
                  <a:txBody>
                    <a:bodyPr/>
                    <a:lstStyle/>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Enhances or adds to an existing product or service</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Improves user experience, functionality, or performance.</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Builds upon existing infrastructure or technology.</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Offers value-added features or capabilities to existing customers.</a:t>
                      </a:r>
                      <a:endParaRPr/>
                    </a:p>
                  </a:txBody>
                  <a:tcPr marT="80100" marB="80100" marR="120150" marL="160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C6C1"/>
                      </a:solidFill>
                      <a:prstDash val="solid"/>
                      <a:round/>
                      <a:headEnd len="sm" w="sm" type="none"/>
                      <a:tailEnd len="sm" w="sm" type="none"/>
                    </a:lnT>
                    <a:lnB cap="flat" cmpd="sng" w="9525">
                      <a:solidFill>
                        <a:srgbClr val="C7C6C1"/>
                      </a:solidFill>
                      <a:prstDash val="solid"/>
                      <a:round/>
                      <a:headEnd len="sm" w="sm" type="none"/>
                      <a:tailEnd len="sm" w="sm" type="none"/>
                    </a:lnB>
                  </a:tcPr>
                </a:tc>
              </a:tr>
              <a:tr h="1059975">
                <a:tc>
                  <a:txBody>
                    <a:bodyPr/>
                    <a:lstStyle/>
                    <a:p>
                      <a:pPr indent="0" lvl="0" marL="0" marR="0" rtl="0" algn="l">
                        <a:spcBef>
                          <a:spcPts val="0"/>
                        </a:spcBef>
                        <a:spcAft>
                          <a:spcPts val="0"/>
                        </a:spcAft>
                        <a:buNone/>
                      </a:pPr>
                      <a:r>
                        <a:rPr b="1" lang="en-GB" sz="1100" u="none" cap="none" strike="noStrike">
                          <a:solidFill>
                            <a:srgbClr val="3F3F3F"/>
                          </a:solidFill>
                          <a:latin typeface="Century Gothic"/>
                          <a:ea typeface="Century Gothic"/>
                          <a:cs typeface="Century Gothic"/>
                          <a:sym typeface="Century Gothic"/>
                        </a:rPr>
                        <a:t>New Process</a:t>
                      </a:r>
                      <a:endParaRPr/>
                    </a:p>
                  </a:txBody>
                  <a:tcPr marT="80100" marB="80100" marR="120150" marL="160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C6C1"/>
                      </a:solidFill>
                      <a:prstDash val="solid"/>
                      <a:round/>
                      <a:headEnd len="sm" w="sm" type="none"/>
                      <a:tailEnd len="sm" w="sm" type="none"/>
                    </a:lnT>
                    <a:lnB cap="flat" cmpd="sng" w="9525">
                      <a:solidFill>
                        <a:srgbClr val="C7C6C1"/>
                      </a:solidFill>
                      <a:prstDash val="solid"/>
                      <a:round/>
                      <a:headEnd len="sm" w="sm" type="none"/>
                      <a:tailEnd len="sm" w="sm" type="none"/>
                    </a:lnB>
                  </a:tcPr>
                </a:tc>
                <a:tc>
                  <a:txBody>
                    <a:bodyPr/>
                    <a:lstStyle/>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Introduces a novel approach or methodology to streamline operations.</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Improves efficiency, productivity, or cost-effectiveness.</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Enhances collaboration or communication within the organization.</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Aligns with strategic objectives and business goals.</a:t>
                      </a:r>
                      <a:endParaRPr/>
                    </a:p>
                  </a:txBody>
                  <a:tcPr marT="80100" marB="80100" marR="120150" marL="160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C6C1"/>
                      </a:solidFill>
                      <a:prstDash val="solid"/>
                      <a:round/>
                      <a:headEnd len="sm" w="sm" type="none"/>
                      <a:tailEnd len="sm" w="sm" type="none"/>
                    </a:lnT>
                    <a:lnB cap="flat" cmpd="sng" w="9525">
                      <a:solidFill>
                        <a:srgbClr val="C7C6C1"/>
                      </a:solidFill>
                      <a:prstDash val="solid"/>
                      <a:round/>
                      <a:headEnd len="sm" w="sm" type="none"/>
                      <a:tailEnd len="sm" w="sm" type="none"/>
                    </a:lnB>
                  </a:tcPr>
                </a:tc>
              </a:tr>
              <a:tr h="1233850">
                <a:tc>
                  <a:txBody>
                    <a:bodyPr/>
                    <a:lstStyle/>
                    <a:p>
                      <a:pPr indent="0" lvl="0" marL="0" marR="0" rtl="0" algn="l">
                        <a:spcBef>
                          <a:spcPts val="0"/>
                        </a:spcBef>
                        <a:spcAft>
                          <a:spcPts val="0"/>
                        </a:spcAft>
                        <a:buNone/>
                      </a:pPr>
                      <a:r>
                        <a:rPr b="1" lang="en-GB" sz="1100" u="none" cap="none" strike="noStrike">
                          <a:solidFill>
                            <a:srgbClr val="3F3F3F"/>
                          </a:solidFill>
                          <a:latin typeface="Century Gothic"/>
                          <a:ea typeface="Century Gothic"/>
                          <a:cs typeface="Century Gothic"/>
                          <a:sym typeface="Century Gothic"/>
                        </a:rPr>
                        <a:t>Amendment/Update of Feature/Process Request</a:t>
                      </a:r>
                      <a:endParaRPr/>
                    </a:p>
                  </a:txBody>
                  <a:tcPr marT="80100" marB="80100" marR="120150" marL="160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C6C1"/>
                      </a:solidFill>
                      <a:prstDash val="solid"/>
                      <a:round/>
                      <a:headEnd len="sm" w="sm" type="none"/>
                      <a:tailEnd len="sm" w="sm" type="none"/>
                    </a:lnT>
                    <a:lnB cap="flat" cmpd="sng" w="9525">
                      <a:solidFill>
                        <a:srgbClr val="C7C6C1"/>
                      </a:solidFill>
                      <a:prstDash val="solid"/>
                      <a:round/>
                      <a:headEnd len="sm" w="sm" type="none"/>
                      <a:tailEnd len="sm" w="sm" type="none"/>
                    </a:lnB>
                  </a:tcPr>
                </a:tc>
                <a:tc>
                  <a:txBody>
                    <a:bodyPr/>
                    <a:lstStyle/>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Seeks to modify or refine an existing product, service, or process.</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Addresses identified issues, gaps, or opportunities for improvement.</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Proposes incremental changes or updates based on user feedback or market trends.</a:t>
                      </a:r>
                      <a:endParaRPr/>
                    </a:p>
                    <a:p>
                      <a:pPr indent="-228600" lvl="0" marL="228600" marR="0" rtl="0" algn="l">
                        <a:spcBef>
                          <a:spcPts val="0"/>
                        </a:spcBef>
                        <a:spcAft>
                          <a:spcPts val="0"/>
                        </a:spcAft>
                        <a:buClr>
                          <a:srgbClr val="3F3F3F"/>
                        </a:buClr>
                        <a:buSzPts val="1100"/>
                        <a:buFont typeface="Play"/>
                        <a:buAutoNum type="arabicPeriod"/>
                      </a:pPr>
                      <a:r>
                        <a:rPr lang="en-GB" sz="1100" u="none" cap="none" strike="noStrike">
                          <a:solidFill>
                            <a:srgbClr val="3F3F3F"/>
                          </a:solidFill>
                          <a:latin typeface="Century Gothic"/>
                          <a:ea typeface="Century Gothic"/>
                          <a:cs typeface="Century Gothic"/>
                          <a:sym typeface="Century Gothic"/>
                        </a:rPr>
                        <a:t>Aimed at optimizing performance, usability, or compliance with regulations.</a:t>
                      </a:r>
                      <a:endParaRPr/>
                    </a:p>
                  </a:txBody>
                  <a:tcPr marT="80100" marB="80100" marR="120150" marL="160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C7C6C1"/>
                      </a:solidFill>
                      <a:prstDash val="solid"/>
                      <a:round/>
                      <a:headEnd len="sm" w="sm" type="none"/>
                      <a:tailEnd len="sm" w="sm" type="none"/>
                    </a:lnT>
                    <a:lnB cap="flat" cmpd="sng" w="9525">
                      <a:solidFill>
                        <a:srgbClr val="C7C6C1"/>
                      </a:solidFill>
                      <a:prstDash val="solid"/>
                      <a:round/>
                      <a:headEnd len="sm" w="sm" type="none"/>
                      <a:tailEnd len="sm" w="sm" type="none"/>
                    </a:lnB>
                  </a:tcPr>
                </a:tc>
              </a:tr>
            </a:tbl>
          </a:graphicData>
        </a:graphic>
      </p:graphicFrame>
      <p:sp>
        <p:nvSpPr>
          <p:cNvPr id="155" name="Google Shape;155;p7"/>
          <p:cNvSpPr txBox="1"/>
          <p:nvPr/>
        </p:nvSpPr>
        <p:spPr>
          <a:xfrm>
            <a:off x="545911" y="1829475"/>
            <a:ext cx="2134876"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800">
                <a:solidFill>
                  <a:srgbClr val="002060"/>
                </a:solidFill>
                <a:latin typeface="Century Gothic"/>
                <a:ea typeface="Century Gothic"/>
                <a:cs typeface="Century Gothic"/>
                <a:sym typeface="Century Gothic"/>
              </a:rPr>
              <a:t>Idea</a:t>
            </a:r>
            <a:endParaRPr/>
          </a:p>
          <a:p>
            <a:pPr indent="0" lvl="0" marL="0" marR="0" rtl="0" algn="l">
              <a:spcBef>
                <a:spcPts val="0"/>
              </a:spcBef>
              <a:spcAft>
                <a:spcPts val="0"/>
              </a:spcAft>
              <a:buNone/>
            </a:pPr>
            <a:r>
              <a:rPr b="1" i="0" lang="en-GB" sz="1800">
                <a:solidFill>
                  <a:srgbClr val="002060"/>
                </a:solidFill>
                <a:latin typeface="Century Gothic"/>
                <a:ea typeface="Century Gothic"/>
                <a:cs typeface="Century Gothic"/>
                <a:sym typeface="Century Gothic"/>
              </a:rPr>
              <a:t>Submission Assessment Criteria</a:t>
            </a:r>
            <a:endParaRPr sz="1800">
              <a:solidFill>
                <a:srgbClr val="002060"/>
              </a:solidFill>
              <a:latin typeface="Century Gothic"/>
              <a:ea typeface="Century Gothic"/>
              <a:cs typeface="Century Gothic"/>
              <a:sym typeface="Century Gothic"/>
            </a:endParaRPr>
          </a:p>
        </p:txBody>
      </p:sp>
      <p:sp>
        <p:nvSpPr>
          <p:cNvPr id="156" name="Google Shape;156;p7"/>
          <p:cNvSpPr txBox="1"/>
          <p:nvPr/>
        </p:nvSpPr>
        <p:spPr>
          <a:xfrm>
            <a:off x="545911" y="3029804"/>
            <a:ext cx="2674961"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000">
                <a:solidFill>
                  <a:srgbClr val="595959"/>
                </a:solidFill>
                <a:latin typeface="Century Gothic"/>
                <a:ea typeface="Century Gothic"/>
                <a:cs typeface="Century Gothic"/>
                <a:sym typeface="Century Gothic"/>
              </a:rPr>
              <a:t>Assign a team of dedicated business analysts to manually assess and categorize submissions into New Product/Service, New Product/Service Feature, New Process, or Amendment/Update of Feature/Process Request.</a:t>
            </a:r>
            <a:endParaRPr sz="1000">
              <a:solidFill>
                <a:srgbClr val="595959"/>
              </a:solidFill>
              <a:latin typeface="Century Gothic"/>
              <a:ea typeface="Century Gothic"/>
              <a:cs typeface="Century Gothic"/>
              <a:sym typeface="Century Gothic"/>
            </a:endParaRPr>
          </a:p>
        </p:txBody>
      </p:sp>
      <p:sp>
        <p:nvSpPr>
          <p:cNvPr id="157" name="Google Shape;157;p7"/>
          <p:cNvSpPr txBox="1"/>
          <p:nvPr/>
        </p:nvSpPr>
        <p:spPr>
          <a:xfrm>
            <a:off x="545911" y="4331368"/>
            <a:ext cx="196527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800">
                <a:solidFill>
                  <a:schemeClr val="accent2"/>
                </a:solidFill>
                <a:latin typeface="Century Gothic"/>
                <a:ea typeface="Century Gothic"/>
                <a:cs typeface="Century Gothic"/>
                <a:sym typeface="Century Gothic"/>
              </a:rPr>
              <a:t>NB: The team of analysts can be assigned by the Innovation Village to oversee this process</a:t>
            </a:r>
            <a:endParaRPr/>
          </a:p>
        </p:txBody>
      </p:sp>
      <p:sp>
        <p:nvSpPr>
          <p:cNvPr id="158" name="Google Shape;158;p7"/>
          <p:cNvSpPr txBox="1"/>
          <p:nvPr/>
        </p:nvSpPr>
        <p:spPr>
          <a:xfrm>
            <a:off x="723137" y="5377218"/>
            <a:ext cx="181515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lt1"/>
                </a:solidFill>
                <a:latin typeface="Century Gothic"/>
                <a:ea typeface="Century Gothic"/>
                <a:cs typeface="Century Gothic"/>
                <a:sym typeface="Century Gothic"/>
              </a:rPr>
              <a:t>[Click here to download the assessment tool]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graphicFrame>
        <p:nvGraphicFramePr>
          <p:cNvPr id="163" name="Google Shape;163;p8"/>
          <p:cNvGraphicFramePr/>
          <p:nvPr/>
        </p:nvGraphicFramePr>
        <p:xfrm>
          <a:off x="4787503" y="1056905"/>
          <a:ext cx="3000000" cy="3000000"/>
        </p:xfrm>
        <a:graphic>
          <a:graphicData uri="http://schemas.openxmlformats.org/drawingml/2006/table">
            <a:tbl>
              <a:tblPr>
                <a:noFill/>
                <a:tableStyleId>{2D9D0671-3B3A-4BBB-9704-2ACD332EF75A}</a:tableStyleId>
              </a:tblPr>
              <a:tblGrid>
                <a:gridCol w="1863825"/>
                <a:gridCol w="886750"/>
              </a:tblGrid>
              <a:tr h="308950">
                <a:tc>
                  <a:txBody>
                    <a:bodyPr/>
                    <a:lstStyle/>
                    <a:p>
                      <a:pPr indent="0" lvl="0" marL="0" marR="0" rtl="0" algn="l">
                        <a:spcBef>
                          <a:spcPts val="0"/>
                        </a:spcBef>
                        <a:spcAft>
                          <a:spcPts val="0"/>
                        </a:spcAft>
                        <a:buNone/>
                      </a:pPr>
                      <a:r>
                        <a:rPr b="1" lang="en-GB" sz="800" u="none" cap="none" strike="noStrike">
                          <a:solidFill>
                            <a:schemeClr val="lt1"/>
                          </a:solidFill>
                          <a:latin typeface="Century Gothic"/>
                          <a:ea typeface="Century Gothic"/>
                          <a:cs typeface="Century Gothic"/>
                          <a:sym typeface="Century Gothic"/>
                        </a:rPr>
                        <a:t>Criteria</a:t>
                      </a:r>
                      <a:endParaRPr/>
                    </a:p>
                  </a:txBody>
                  <a:tcPr marT="117600" marB="117600" marR="176400" marL="235200" anchor="b">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800" u="none" cap="none" strike="noStrike">
                          <a:solidFill>
                            <a:schemeClr val="lt1"/>
                          </a:solidFill>
                          <a:latin typeface="Century Gothic"/>
                          <a:ea typeface="Century Gothic"/>
                          <a:cs typeface="Century Gothic"/>
                          <a:sym typeface="Century Gothic"/>
                        </a:rPr>
                        <a:t>Weight</a:t>
                      </a:r>
                      <a:endParaRPr/>
                    </a:p>
                  </a:txBody>
                  <a:tcPr marT="117600" marB="117600" marR="176400" marL="235200" anchor="b">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519900">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Potential Impact on Business Objectives</a:t>
                      </a:r>
                      <a:endParaRPr/>
                    </a:p>
                  </a:txBody>
                  <a:tcPr marT="117600" marB="117600" marR="176400" marL="23520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0.3</a:t>
                      </a:r>
                      <a:endParaRPr/>
                    </a:p>
                  </a:txBody>
                  <a:tcPr marT="117600" marB="117600" marR="176400" marL="23520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9900">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Feasibility and Resource Requirements</a:t>
                      </a:r>
                      <a:endParaRPr/>
                    </a:p>
                  </a:txBody>
                  <a:tcPr marT="117600" marB="117600" marR="176400" marL="23520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0.2</a:t>
                      </a:r>
                      <a:endParaRPr/>
                    </a:p>
                  </a:txBody>
                  <a:tcPr marT="117600" marB="117600" marR="176400" marL="23520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9900">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Alignment with Strategic Objectives</a:t>
                      </a:r>
                      <a:endParaRPr/>
                    </a:p>
                  </a:txBody>
                  <a:tcPr marT="117600" marB="117600" marR="176400" marL="23520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0.2</a:t>
                      </a:r>
                      <a:endParaRPr/>
                    </a:p>
                  </a:txBody>
                  <a:tcPr marT="117600" marB="117600" marR="176400" marL="23520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19900">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Market Demand and Competitive Advantage</a:t>
                      </a:r>
                      <a:endParaRPr/>
                    </a:p>
                  </a:txBody>
                  <a:tcPr marT="117600" marB="117600" marR="176400" marL="23520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0.2</a:t>
                      </a:r>
                      <a:endParaRPr/>
                    </a:p>
                  </a:txBody>
                  <a:tcPr marT="117600" marB="117600" marR="176400" marL="23520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4425">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Innovation and Differentiation</a:t>
                      </a:r>
                      <a:endParaRPr/>
                    </a:p>
                  </a:txBody>
                  <a:tcPr marT="117600" marB="117600" marR="176400" marL="23520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solidFill>
                            <a:srgbClr val="3F3F3F"/>
                          </a:solidFill>
                          <a:latin typeface="Century Gothic"/>
                          <a:ea typeface="Century Gothic"/>
                          <a:cs typeface="Century Gothic"/>
                          <a:sym typeface="Century Gothic"/>
                        </a:rPr>
                        <a:t>0.1</a:t>
                      </a:r>
                      <a:endParaRPr/>
                    </a:p>
                  </a:txBody>
                  <a:tcPr marT="117600" marB="117600" marR="176400" marL="23520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4" name="Google Shape;164;p8"/>
          <p:cNvSpPr txBox="1"/>
          <p:nvPr/>
        </p:nvSpPr>
        <p:spPr>
          <a:xfrm>
            <a:off x="349321" y="257427"/>
            <a:ext cx="288412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800">
                <a:solidFill>
                  <a:schemeClr val="dk1"/>
                </a:solidFill>
                <a:latin typeface="Century Gothic"/>
                <a:ea typeface="Century Gothic"/>
                <a:cs typeface="Century Gothic"/>
                <a:sym typeface="Century Gothic"/>
              </a:rPr>
              <a:t>Prioritization Framework:</a:t>
            </a:r>
            <a:endParaRPr sz="1800">
              <a:solidFill>
                <a:schemeClr val="dk1"/>
              </a:solidFill>
              <a:latin typeface="Century Gothic"/>
              <a:ea typeface="Century Gothic"/>
              <a:cs typeface="Century Gothic"/>
              <a:sym typeface="Century Gothic"/>
            </a:endParaRPr>
          </a:p>
        </p:txBody>
      </p:sp>
      <p:sp>
        <p:nvSpPr>
          <p:cNvPr id="165" name="Google Shape;165;p8"/>
          <p:cNvSpPr txBox="1"/>
          <p:nvPr/>
        </p:nvSpPr>
        <p:spPr>
          <a:xfrm>
            <a:off x="4744699" y="4180236"/>
            <a:ext cx="2702601"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800">
                <a:solidFill>
                  <a:schemeClr val="dk1"/>
                </a:solidFill>
                <a:latin typeface="Century Gothic"/>
                <a:ea typeface="Century Gothic"/>
                <a:cs typeface="Century Gothic"/>
                <a:sym typeface="Century Gothic"/>
              </a:rPr>
              <a:t>Prioritization Score Calculation:</a:t>
            </a:r>
            <a:endParaRPr b="0" i="0" sz="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b="1" i="0" sz="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1" i="0" lang="en-GB" sz="800">
                <a:solidFill>
                  <a:schemeClr val="dk1"/>
                </a:solidFill>
                <a:latin typeface="Century Gothic"/>
                <a:ea typeface="Century Gothic"/>
                <a:cs typeface="Century Gothic"/>
                <a:sym typeface="Century Gothic"/>
              </a:rPr>
              <a:t>Priority Score </a:t>
            </a:r>
            <a:r>
              <a:rPr b="0" i="0" lang="en-GB" sz="800">
                <a:solidFill>
                  <a:schemeClr val="dk1"/>
                </a:solidFill>
                <a:latin typeface="Century Gothic"/>
                <a:ea typeface="Century Gothic"/>
                <a:cs typeface="Century Gothic"/>
                <a:sym typeface="Century Gothic"/>
              </a:rPr>
              <a:t>= (Potential Impact * 0.3) + (Feasibility * 0.2) + (Alignment * 0.2) + (Market Demand * 0.2) + (Innovation * 0.1)</a:t>
            </a:r>
            <a:endParaRPr/>
          </a:p>
          <a:p>
            <a:pPr indent="0" lvl="0" marL="0" marR="0" rtl="0" algn="l">
              <a:spcBef>
                <a:spcPts val="0"/>
              </a:spcBef>
              <a:spcAft>
                <a:spcPts val="0"/>
              </a:spcAft>
              <a:buNone/>
            </a:pPr>
            <a:r>
              <a:t/>
            </a:r>
            <a:endParaRPr b="1" i="0" sz="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t/>
            </a:r>
            <a:endParaRPr b="1" sz="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1" i="0" lang="en-GB" sz="800">
                <a:solidFill>
                  <a:schemeClr val="dk1"/>
                </a:solidFill>
                <a:latin typeface="Century Gothic"/>
                <a:ea typeface="Century Gothic"/>
                <a:cs typeface="Century Gothic"/>
                <a:sym typeface="Century Gothic"/>
              </a:rPr>
              <a:t>Example:</a:t>
            </a:r>
            <a:endParaRPr b="0" i="0" sz="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0" i="0" lang="en-GB" sz="800">
                <a:solidFill>
                  <a:schemeClr val="dk1"/>
                </a:solidFill>
                <a:latin typeface="Century Gothic"/>
                <a:ea typeface="Century Gothic"/>
                <a:cs typeface="Century Gothic"/>
                <a:sym typeface="Century Gothic"/>
              </a:rPr>
              <a:t>Suppose a submission for a New Product/Service has the following scores:</a:t>
            </a:r>
            <a:endParaRPr/>
          </a:p>
          <a:p>
            <a:pPr indent="-228600" lvl="0" marL="22860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Potential Impact: 8/10</a:t>
            </a:r>
            <a:endParaRPr/>
          </a:p>
          <a:p>
            <a:pPr indent="-228600" lvl="0" marL="22860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Feasibility: 7/10</a:t>
            </a:r>
            <a:endParaRPr/>
          </a:p>
          <a:p>
            <a:pPr indent="-228600" lvl="0" marL="22860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Alignment: 9/10</a:t>
            </a:r>
            <a:endParaRPr/>
          </a:p>
          <a:p>
            <a:pPr indent="-228600" lvl="0" marL="22860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Market Demand: 6/10</a:t>
            </a:r>
            <a:endParaRPr/>
          </a:p>
          <a:p>
            <a:pPr indent="-228600" lvl="0" marL="22860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Innovation: 8/10</a:t>
            </a:r>
            <a:endParaRPr/>
          </a:p>
          <a:p>
            <a:pPr indent="0" lvl="0" marL="0" marR="0" rtl="0" algn="l">
              <a:spcBef>
                <a:spcPts val="0"/>
              </a:spcBef>
              <a:spcAft>
                <a:spcPts val="0"/>
              </a:spcAft>
              <a:buNone/>
            </a:pPr>
            <a:r>
              <a:t/>
            </a:r>
            <a:endParaRPr b="0" i="0" sz="800">
              <a:solidFill>
                <a:schemeClr val="dk1"/>
              </a:solidFill>
              <a:latin typeface="Century Gothic"/>
              <a:ea typeface="Century Gothic"/>
              <a:cs typeface="Century Gothic"/>
              <a:sym typeface="Century Gothic"/>
            </a:endParaRPr>
          </a:p>
          <a:p>
            <a:pPr indent="0" lvl="0" marL="0" marR="0" rtl="0" algn="l">
              <a:spcBef>
                <a:spcPts val="0"/>
              </a:spcBef>
              <a:spcAft>
                <a:spcPts val="0"/>
              </a:spcAft>
              <a:buNone/>
            </a:pPr>
            <a:r>
              <a:rPr b="1" i="0" lang="en-GB" sz="800">
                <a:solidFill>
                  <a:schemeClr val="dk1"/>
                </a:solidFill>
                <a:latin typeface="Century Gothic"/>
                <a:ea typeface="Century Gothic"/>
                <a:cs typeface="Century Gothic"/>
                <a:sym typeface="Century Gothic"/>
              </a:rPr>
              <a:t>Priority Score </a:t>
            </a:r>
            <a:r>
              <a:rPr b="0" i="0" lang="en-GB" sz="800">
                <a:solidFill>
                  <a:schemeClr val="dk1"/>
                </a:solidFill>
                <a:latin typeface="Century Gothic"/>
                <a:ea typeface="Century Gothic"/>
                <a:cs typeface="Century Gothic"/>
                <a:sym typeface="Century Gothic"/>
              </a:rPr>
              <a:t>= (8 * 0.3) + (7 * 0.2) + (9 * 0.2) + (6 * 0.2) + (8 * 0.1) = 2.4 + 1.4 + 1.8 + 1.2 + 0.8 = 7.6</a:t>
            </a:r>
            <a:endParaRPr/>
          </a:p>
        </p:txBody>
      </p:sp>
      <p:graphicFrame>
        <p:nvGraphicFramePr>
          <p:cNvPr id="166" name="Google Shape;166;p8"/>
          <p:cNvGraphicFramePr/>
          <p:nvPr/>
        </p:nvGraphicFramePr>
        <p:xfrm>
          <a:off x="8107977" y="1056905"/>
          <a:ext cx="3000000" cy="3000000"/>
        </p:xfrm>
        <a:graphic>
          <a:graphicData uri="http://schemas.openxmlformats.org/drawingml/2006/table">
            <a:tbl>
              <a:tblPr>
                <a:noFill/>
                <a:tableStyleId>{2D9D0671-3B3A-4BBB-9704-2ACD332EF75A}</a:tableStyleId>
              </a:tblPr>
              <a:tblGrid>
                <a:gridCol w="1843100"/>
                <a:gridCol w="1504350"/>
              </a:tblGrid>
              <a:tr h="101600">
                <a:tc>
                  <a:txBody>
                    <a:bodyPr/>
                    <a:lstStyle/>
                    <a:p>
                      <a:pPr indent="0" lvl="0" marL="0" marR="0" rtl="0" algn="l">
                        <a:spcBef>
                          <a:spcPts val="0"/>
                        </a:spcBef>
                        <a:spcAft>
                          <a:spcPts val="0"/>
                        </a:spcAft>
                        <a:buNone/>
                      </a:pPr>
                      <a:r>
                        <a:rPr b="1" lang="en-GB" sz="800" u="none" cap="none" strike="noStrike">
                          <a:solidFill>
                            <a:schemeClr val="lt1"/>
                          </a:solidFill>
                          <a:latin typeface="Century Gothic"/>
                          <a:ea typeface="Century Gothic"/>
                          <a:cs typeface="Century Gothic"/>
                          <a:sym typeface="Century Gothic"/>
                        </a:rPr>
                        <a:t>Score Range</a:t>
                      </a:r>
                      <a:endParaRPr/>
                    </a:p>
                  </a:txBody>
                  <a:tcPr marT="45725" marB="45725" marR="91450" marL="91450" anchor="b">
                    <a:lnL cap="flat" cmpd="sng" w="9525">
                      <a:solidFill>
                        <a:srgbClr val="E3E3E3"/>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E3E3E3"/>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800" u="none" cap="none" strike="noStrike">
                          <a:solidFill>
                            <a:schemeClr val="lt1"/>
                          </a:solidFill>
                          <a:latin typeface="Century Gothic"/>
                          <a:ea typeface="Century Gothic"/>
                          <a:cs typeface="Century Gothic"/>
                          <a:sym typeface="Century Gothic"/>
                        </a:rPr>
                        <a:t>Interpretation</a:t>
                      </a:r>
                      <a:endParaRPr/>
                    </a:p>
                  </a:txBody>
                  <a:tcPr marT="45725" marB="45725" marR="91450" marL="91450" anchor="b">
                    <a:lnL cap="flat" cmpd="sng" w="12700">
                      <a:solidFill>
                        <a:schemeClr val="dk1"/>
                      </a:solidFill>
                      <a:prstDash val="solid"/>
                      <a:round/>
                      <a:headEnd len="sm" w="sm" type="none"/>
                      <a:tailEnd len="sm" w="sm" type="none"/>
                    </a:lnL>
                    <a:lnR cap="flat" cmpd="sng" w="9525">
                      <a:solidFill>
                        <a:srgbClr val="E3E3E3"/>
                      </a:solidFill>
                      <a:prstDash val="solid"/>
                      <a:round/>
                      <a:headEnd len="sm" w="sm" type="none"/>
                      <a:tailEnd len="sm" w="sm" type="none"/>
                    </a:lnR>
                    <a:lnT cap="flat" cmpd="sng" w="9525">
                      <a:solidFill>
                        <a:srgbClr val="E3E3E3"/>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101600">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9.0 - 10.0</a:t>
                      </a:r>
                      <a:endParaRPr/>
                    </a:p>
                  </a:txBody>
                  <a:tcPr marT="45725" marB="45725" marR="91450" marL="91450" anchor="ctr">
                    <a:lnL cap="flat" cmpd="sng" w="9525">
                      <a:solidFill>
                        <a:srgbClr val="E3E3E3"/>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High Priority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E3E3E3"/>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1600">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7.0 - 8.9</a:t>
                      </a:r>
                      <a:endParaRPr/>
                    </a:p>
                  </a:txBody>
                  <a:tcPr marT="45725" marB="45725" marR="91450" marL="91450" anchor="ctr">
                    <a:lnL cap="flat" cmpd="sng" w="9525">
                      <a:solidFill>
                        <a:srgbClr val="E3E3E3"/>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Significant Priority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E3E3E3"/>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1600">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5.0 - 6.9</a:t>
                      </a:r>
                      <a:endParaRPr/>
                    </a:p>
                  </a:txBody>
                  <a:tcPr marT="45725" marB="45725" marR="91450" marL="91450" anchor="ctr">
                    <a:lnL cap="flat" cmpd="sng" w="9525">
                      <a:solidFill>
                        <a:srgbClr val="E3E3E3"/>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Moderate Priority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E3E3E3"/>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1600">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3.0 - 4.9</a:t>
                      </a:r>
                      <a:endParaRPr/>
                    </a:p>
                  </a:txBody>
                  <a:tcPr marT="45725" marB="45725" marR="91450" marL="91450" anchor="ctr">
                    <a:lnL cap="flat" cmpd="sng" w="9525">
                      <a:solidFill>
                        <a:srgbClr val="E3E3E3"/>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Low Priority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E3E3E3"/>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01600">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1.0 - 2.9</a:t>
                      </a:r>
                      <a:endParaRPr/>
                    </a:p>
                  </a:txBody>
                  <a:tcPr marT="45725" marB="45725" marR="91450" marL="91450" anchor="ctr">
                    <a:lnL cap="flat" cmpd="sng" w="9525">
                      <a:solidFill>
                        <a:srgbClr val="E3E3E3"/>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E3E3E3"/>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Very Low Priority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E3E3E3"/>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E3E3E3"/>
                      </a:solidFill>
                      <a:prstDash val="solid"/>
                      <a:round/>
                      <a:headEnd len="sm" w="sm" type="none"/>
                      <a:tailEnd len="sm" w="sm" type="none"/>
                    </a:lnB>
                  </a:tcPr>
                </a:tc>
              </a:tr>
            </a:tbl>
          </a:graphicData>
        </a:graphic>
      </p:graphicFrame>
      <p:sp>
        <p:nvSpPr>
          <p:cNvPr id="167" name="Google Shape;167;p8"/>
          <p:cNvSpPr txBox="1"/>
          <p:nvPr/>
        </p:nvSpPr>
        <p:spPr>
          <a:xfrm>
            <a:off x="8055402" y="2479357"/>
            <a:ext cx="3452603" cy="390876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GB" sz="800">
                <a:solidFill>
                  <a:schemeClr val="dk1"/>
                </a:solidFill>
                <a:latin typeface="Century Gothic"/>
                <a:ea typeface="Century Gothic"/>
                <a:cs typeface="Century Gothic"/>
                <a:sym typeface="Century Gothic"/>
              </a:rPr>
              <a:t>Explanation:</a:t>
            </a:r>
            <a:endParaRPr/>
          </a:p>
          <a:p>
            <a:pPr indent="0" lvl="0" marL="0" marR="0" rtl="0" algn="just">
              <a:spcBef>
                <a:spcPts val="0"/>
              </a:spcBef>
              <a:spcAft>
                <a:spcPts val="0"/>
              </a:spcAft>
              <a:buNone/>
            </a:pPr>
            <a:r>
              <a:t/>
            </a:r>
            <a:endParaRPr b="0" i="0" sz="80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GB" sz="800">
                <a:solidFill>
                  <a:schemeClr val="dk1"/>
                </a:solidFill>
                <a:latin typeface="Century Gothic"/>
                <a:ea typeface="Century Gothic"/>
                <a:cs typeface="Century Gothic"/>
                <a:sym typeface="Century Gothic"/>
              </a:rPr>
              <a:t>High Priority (9.0 - 10.0):</a:t>
            </a:r>
            <a:r>
              <a:rPr b="0" i="0" lang="en-GB" sz="800">
                <a:solidFill>
                  <a:schemeClr val="dk1"/>
                </a:solidFill>
                <a:latin typeface="Century Gothic"/>
                <a:ea typeface="Century Gothic"/>
                <a:cs typeface="Century Gothic"/>
                <a:sym typeface="Century Gothic"/>
              </a:rPr>
              <a:t> Submissions falling within this range demonstrate outstanding potential impact, feasibility, alignment with strategic objectives, market demand, and innovation. These submissions should be given the highest priority for further development and implementation.</a:t>
            </a:r>
            <a:endParaRPr/>
          </a:p>
          <a:p>
            <a:pPr indent="0" lvl="0" marL="0" marR="0" rtl="0" algn="just">
              <a:spcBef>
                <a:spcPts val="0"/>
              </a:spcBef>
              <a:spcAft>
                <a:spcPts val="0"/>
              </a:spcAft>
              <a:buNone/>
            </a:pPr>
            <a:r>
              <a:t/>
            </a:r>
            <a:endParaRPr b="0" i="0" sz="80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GB" sz="800">
                <a:solidFill>
                  <a:schemeClr val="dk1"/>
                </a:solidFill>
                <a:latin typeface="Century Gothic"/>
                <a:ea typeface="Century Gothic"/>
                <a:cs typeface="Century Gothic"/>
                <a:sym typeface="Century Gothic"/>
              </a:rPr>
              <a:t>Significant Priority (7.0 - 8.9):</a:t>
            </a:r>
            <a:r>
              <a:rPr b="0" i="0" lang="en-GB" sz="800">
                <a:solidFill>
                  <a:schemeClr val="dk1"/>
                </a:solidFill>
                <a:latin typeface="Century Gothic"/>
                <a:ea typeface="Century Gothic"/>
                <a:cs typeface="Century Gothic"/>
                <a:sym typeface="Century Gothic"/>
              </a:rPr>
              <a:t> Submissions in this range exhibit very positive attributes across all criteria, indicating strong potential for success and significant business impact. They should be considered for prioritization in the near term.</a:t>
            </a:r>
            <a:endParaRPr/>
          </a:p>
          <a:p>
            <a:pPr indent="0" lvl="0" marL="0" marR="0" rtl="0" algn="just">
              <a:spcBef>
                <a:spcPts val="0"/>
              </a:spcBef>
              <a:spcAft>
                <a:spcPts val="0"/>
              </a:spcAft>
              <a:buNone/>
            </a:pPr>
            <a:r>
              <a:t/>
            </a:r>
            <a:endParaRPr b="0" i="0" sz="80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GB" sz="800">
                <a:solidFill>
                  <a:schemeClr val="dk1"/>
                </a:solidFill>
                <a:latin typeface="Century Gothic"/>
                <a:ea typeface="Century Gothic"/>
                <a:cs typeface="Century Gothic"/>
                <a:sym typeface="Century Gothic"/>
              </a:rPr>
              <a:t>Moderate Priority (5.0 - 6.9):</a:t>
            </a:r>
            <a:r>
              <a:rPr b="0" i="0" lang="en-GB" sz="800">
                <a:solidFill>
                  <a:schemeClr val="dk1"/>
                </a:solidFill>
                <a:latin typeface="Century Gothic"/>
                <a:ea typeface="Century Gothic"/>
                <a:cs typeface="Century Gothic"/>
                <a:sym typeface="Century Gothic"/>
              </a:rPr>
              <a:t> Submissions falling within this range show promise and merit further consideration. While they may not be as exceptional as higher-scoring submissions, they still demonstrate solid potential for success and moderate business impact.</a:t>
            </a:r>
            <a:endParaRPr/>
          </a:p>
          <a:p>
            <a:pPr indent="0" lvl="0" marL="0" marR="0" rtl="0" algn="just">
              <a:spcBef>
                <a:spcPts val="0"/>
              </a:spcBef>
              <a:spcAft>
                <a:spcPts val="0"/>
              </a:spcAft>
              <a:buNone/>
            </a:pPr>
            <a:r>
              <a:t/>
            </a:r>
            <a:endParaRPr b="0" i="0" sz="80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GB" sz="800">
                <a:solidFill>
                  <a:schemeClr val="dk1"/>
                </a:solidFill>
                <a:latin typeface="Century Gothic"/>
                <a:ea typeface="Century Gothic"/>
                <a:cs typeface="Century Gothic"/>
                <a:sym typeface="Century Gothic"/>
              </a:rPr>
              <a:t>Low Priority (3.0 - 4.9):</a:t>
            </a:r>
            <a:r>
              <a:rPr b="0" i="0" lang="en-GB" sz="800">
                <a:solidFill>
                  <a:schemeClr val="dk1"/>
                </a:solidFill>
                <a:latin typeface="Century Gothic"/>
                <a:ea typeface="Century Gothic"/>
                <a:cs typeface="Century Gothic"/>
                <a:sym typeface="Century Gothic"/>
              </a:rPr>
              <a:t> Submissions in this range indicate average performance across the evaluation criteria. They may have some positive aspects but also areas for improvement. Consideration for prioritization should be based on available resources and strategic alignment.</a:t>
            </a:r>
            <a:endParaRPr/>
          </a:p>
          <a:p>
            <a:pPr indent="0" lvl="0" marL="0" marR="0" rtl="0" algn="just">
              <a:spcBef>
                <a:spcPts val="0"/>
              </a:spcBef>
              <a:spcAft>
                <a:spcPts val="0"/>
              </a:spcAft>
              <a:buNone/>
            </a:pPr>
            <a:r>
              <a:t/>
            </a:r>
            <a:endParaRPr b="1" sz="800">
              <a:solidFill>
                <a:schemeClr val="dk1"/>
              </a:solidFill>
              <a:latin typeface="Century Gothic"/>
              <a:ea typeface="Century Gothic"/>
              <a:cs typeface="Century Gothic"/>
              <a:sym typeface="Century Gothic"/>
            </a:endParaRPr>
          </a:p>
          <a:p>
            <a:pPr indent="0" lvl="0" marL="0" marR="0" rtl="0" algn="just">
              <a:spcBef>
                <a:spcPts val="0"/>
              </a:spcBef>
              <a:spcAft>
                <a:spcPts val="0"/>
              </a:spcAft>
              <a:buNone/>
            </a:pPr>
            <a:r>
              <a:rPr b="1" i="0" lang="en-GB" sz="800">
                <a:solidFill>
                  <a:schemeClr val="dk1"/>
                </a:solidFill>
                <a:latin typeface="Century Gothic"/>
                <a:ea typeface="Century Gothic"/>
                <a:cs typeface="Century Gothic"/>
                <a:sym typeface="Century Gothic"/>
              </a:rPr>
              <a:t>Very Low Priority (1.0 - 2.9):</a:t>
            </a:r>
            <a:r>
              <a:rPr b="0" i="0" lang="en-GB" sz="800">
                <a:solidFill>
                  <a:schemeClr val="dk1"/>
                </a:solidFill>
                <a:latin typeface="Century Gothic"/>
                <a:ea typeface="Century Gothic"/>
                <a:cs typeface="Century Gothic"/>
                <a:sym typeface="Century Gothic"/>
              </a:rPr>
              <a:t> Submissions scoring in this range exhibit significant weaknesses across multiple criteria and may have limited potential for success. They should be given low priority for further development, and resources may be better allocated to higher-priority initiatives.</a:t>
            </a:r>
            <a:endParaRPr/>
          </a:p>
          <a:p>
            <a:pPr indent="0" lvl="0" marL="0" marR="0" rtl="0" algn="just">
              <a:spcBef>
                <a:spcPts val="0"/>
              </a:spcBef>
              <a:spcAft>
                <a:spcPts val="0"/>
              </a:spcAft>
              <a:buNone/>
            </a:pPr>
            <a:r>
              <a:t/>
            </a:r>
            <a:endParaRPr sz="800">
              <a:solidFill>
                <a:schemeClr val="dk1"/>
              </a:solidFill>
              <a:latin typeface="Century Gothic"/>
              <a:ea typeface="Century Gothic"/>
              <a:cs typeface="Century Gothic"/>
              <a:sym typeface="Century Gothic"/>
            </a:endParaRPr>
          </a:p>
        </p:txBody>
      </p:sp>
      <p:graphicFrame>
        <p:nvGraphicFramePr>
          <p:cNvPr id="168" name="Google Shape;168;p8"/>
          <p:cNvGraphicFramePr/>
          <p:nvPr/>
        </p:nvGraphicFramePr>
        <p:xfrm>
          <a:off x="431258" y="1056905"/>
          <a:ext cx="3000000" cy="3000000"/>
        </p:xfrm>
        <a:graphic>
          <a:graphicData uri="http://schemas.openxmlformats.org/drawingml/2006/table">
            <a:tbl>
              <a:tblPr>
                <a:noFill/>
                <a:tableStyleId>{2D9D0671-3B3A-4BBB-9704-2ACD332EF75A}</a:tableStyleId>
              </a:tblPr>
              <a:tblGrid>
                <a:gridCol w="1262100"/>
                <a:gridCol w="1476250"/>
                <a:gridCol w="1047975"/>
              </a:tblGrid>
              <a:tr h="199675">
                <a:tc>
                  <a:txBody>
                    <a:bodyPr/>
                    <a:lstStyle/>
                    <a:p>
                      <a:pPr indent="0" lvl="0" marL="0" marR="0" rtl="0" algn="l">
                        <a:spcBef>
                          <a:spcPts val="0"/>
                        </a:spcBef>
                        <a:spcAft>
                          <a:spcPts val="0"/>
                        </a:spcAft>
                        <a:buNone/>
                      </a:pPr>
                      <a:r>
                        <a:rPr b="1" lang="en-GB" sz="800" u="none" cap="none" strike="noStrike">
                          <a:solidFill>
                            <a:schemeClr val="lt1"/>
                          </a:solidFill>
                          <a:latin typeface="Century Gothic"/>
                          <a:ea typeface="Century Gothic"/>
                          <a:cs typeface="Century Gothic"/>
                          <a:sym typeface="Century Gothic"/>
                        </a:rPr>
                        <a:t>Criteria</a:t>
                      </a:r>
                      <a:endParaRPr/>
                    </a:p>
                  </a:txBody>
                  <a:tcPr marT="16725" marB="16725" marR="33475" marL="3347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800" u="none" cap="none" strike="noStrike">
                          <a:solidFill>
                            <a:schemeClr val="lt1"/>
                          </a:solidFill>
                          <a:latin typeface="Century Gothic"/>
                          <a:ea typeface="Century Gothic"/>
                          <a:cs typeface="Century Gothic"/>
                          <a:sym typeface="Century Gothic"/>
                        </a:rPr>
                        <a:t>Description</a:t>
                      </a:r>
                      <a:endParaRPr/>
                    </a:p>
                  </a:txBody>
                  <a:tcPr marT="16725" marB="16725" marR="33475" marL="33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800" u="none" cap="none" strike="noStrike">
                          <a:solidFill>
                            <a:schemeClr val="lt1"/>
                          </a:solidFill>
                          <a:latin typeface="Century Gothic"/>
                          <a:ea typeface="Century Gothic"/>
                          <a:cs typeface="Century Gothic"/>
                          <a:sym typeface="Century Gothic"/>
                        </a:rPr>
                        <a:t>Score (Out of 10)</a:t>
                      </a:r>
                      <a:endParaRPr/>
                    </a:p>
                  </a:txBody>
                  <a:tcPr marT="16725" marB="16725" marR="33475" marL="3347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781875">
                <a:tc>
                  <a:txBody>
                    <a:bodyPr/>
                    <a:lstStyle/>
                    <a:p>
                      <a:pPr indent="0" lvl="0" marL="0" marR="0" rtl="0" algn="l">
                        <a:spcBef>
                          <a:spcPts val="0"/>
                        </a:spcBef>
                        <a:spcAft>
                          <a:spcPts val="0"/>
                        </a:spcAft>
                        <a:buNone/>
                      </a:pPr>
                      <a:r>
                        <a:rPr b="1" lang="en-GB" sz="800" u="none" cap="none" strike="noStrike">
                          <a:latin typeface="Century Gothic"/>
                          <a:ea typeface="Century Gothic"/>
                          <a:cs typeface="Century Gothic"/>
                          <a:sym typeface="Century Gothic"/>
                        </a:rPr>
                        <a:t>Potential Impact on Business Objectives</a:t>
                      </a:r>
                      <a:endParaRPr/>
                    </a:p>
                  </a:txBody>
                  <a:tcPr marT="16725" marB="16725" marR="33475" marL="3347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The potential impact of the submission on achieving business objectives, including revenue growth, cost savings, and market expansion.</a:t>
                      </a:r>
                      <a:endParaRPr/>
                    </a:p>
                  </a:txBody>
                  <a:tcPr marT="16725" marB="16725" marR="33475" marL="33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800" u="none" cap="none" strike="noStrike">
                        <a:latin typeface="Century Gothic"/>
                        <a:ea typeface="Century Gothic"/>
                        <a:cs typeface="Century Gothic"/>
                        <a:sym typeface="Century Gothic"/>
                      </a:endParaRPr>
                    </a:p>
                  </a:txBody>
                  <a:tcPr marT="16725" marB="16725" marR="33475" marL="3347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81875">
                <a:tc>
                  <a:txBody>
                    <a:bodyPr/>
                    <a:lstStyle/>
                    <a:p>
                      <a:pPr indent="0" lvl="0" marL="0" marR="0" rtl="0" algn="l">
                        <a:spcBef>
                          <a:spcPts val="0"/>
                        </a:spcBef>
                        <a:spcAft>
                          <a:spcPts val="0"/>
                        </a:spcAft>
                        <a:buNone/>
                      </a:pPr>
                      <a:r>
                        <a:rPr b="1" lang="en-GB" sz="800" u="none" cap="none" strike="noStrike">
                          <a:latin typeface="Century Gothic"/>
                          <a:ea typeface="Century Gothic"/>
                          <a:cs typeface="Century Gothic"/>
                          <a:sym typeface="Century Gothic"/>
                        </a:rPr>
                        <a:t>Feasibility and Resource Requirements</a:t>
                      </a:r>
                      <a:endParaRPr/>
                    </a:p>
                  </a:txBody>
                  <a:tcPr marT="16725" marB="16725" marR="33475" marL="3347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The feasibility of implementing the submission, considering resource availability, technical feasibility, and time constraints.</a:t>
                      </a:r>
                      <a:endParaRPr/>
                    </a:p>
                  </a:txBody>
                  <a:tcPr marT="16725" marB="16725" marR="33475" marL="33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800" u="none" cap="none" strike="noStrike">
                        <a:latin typeface="Century Gothic"/>
                        <a:ea typeface="Century Gothic"/>
                        <a:cs typeface="Century Gothic"/>
                        <a:sym typeface="Century Gothic"/>
                      </a:endParaRPr>
                    </a:p>
                  </a:txBody>
                  <a:tcPr marT="16725" marB="16725" marR="33475" marL="3347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83175">
                <a:tc>
                  <a:txBody>
                    <a:bodyPr/>
                    <a:lstStyle/>
                    <a:p>
                      <a:pPr indent="0" lvl="0" marL="0" marR="0" rtl="0" algn="l">
                        <a:spcBef>
                          <a:spcPts val="0"/>
                        </a:spcBef>
                        <a:spcAft>
                          <a:spcPts val="0"/>
                        </a:spcAft>
                        <a:buNone/>
                      </a:pPr>
                      <a:r>
                        <a:rPr b="1" lang="en-GB" sz="800" u="none" cap="none" strike="noStrike">
                          <a:latin typeface="Century Gothic"/>
                          <a:ea typeface="Century Gothic"/>
                          <a:cs typeface="Century Gothic"/>
                          <a:sym typeface="Century Gothic"/>
                        </a:rPr>
                        <a:t>Alignment with Strategic Objectives</a:t>
                      </a:r>
                      <a:endParaRPr/>
                    </a:p>
                  </a:txBody>
                  <a:tcPr marT="16725" marB="16725" marR="33475" marL="3347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The extent to which the submission aligns with the organization's strategic goals and priorities.</a:t>
                      </a:r>
                      <a:endParaRPr/>
                    </a:p>
                  </a:txBody>
                  <a:tcPr marT="16725" marB="16725" marR="33475" marL="33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800" u="none" cap="none" strike="noStrike">
                        <a:latin typeface="Century Gothic"/>
                        <a:ea typeface="Century Gothic"/>
                        <a:cs typeface="Century Gothic"/>
                        <a:sym typeface="Century Gothic"/>
                      </a:endParaRPr>
                    </a:p>
                  </a:txBody>
                  <a:tcPr marT="16725" marB="16725" marR="33475" marL="3347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62925">
                <a:tc>
                  <a:txBody>
                    <a:bodyPr/>
                    <a:lstStyle/>
                    <a:p>
                      <a:pPr indent="0" lvl="0" marL="0" marR="0" rtl="0" algn="l">
                        <a:spcBef>
                          <a:spcPts val="0"/>
                        </a:spcBef>
                        <a:spcAft>
                          <a:spcPts val="0"/>
                        </a:spcAft>
                        <a:buNone/>
                      </a:pPr>
                      <a:r>
                        <a:rPr b="1" lang="en-GB" sz="800" u="none" cap="none" strike="noStrike">
                          <a:latin typeface="Century Gothic"/>
                          <a:ea typeface="Century Gothic"/>
                          <a:cs typeface="Century Gothic"/>
                          <a:sym typeface="Century Gothic"/>
                        </a:rPr>
                        <a:t>Market Demand and Competitive Advantage</a:t>
                      </a:r>
                      <a:endParaRPr/>
                    </a:p>
                  </a:txBody>
                  <a:tcPr marT="16725" marB="16725" marR="33475" marL="3347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The level of market demand for the proposed solution and its ability to provide a competitive advantage over existing offerings.</a:t>
                      </a:r>
                      <a:endParaRPr/>
                    </a:p>
                  </a:txBody>
                  <a:tcPr marT="16725" marB="16725" marR="33475" marL="33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800" u="none" cap="none" strike="noStrike">
                        <a:latin typeface="Century Gothic"/>
                        <a:ea typeface="Century Gothic"/>
                        <a:cs typeface="Century Gothic"/>
                        <a:sym typeface="Century Gothic"/>
                      </a:endParaRPr>
                    </a:p>
                  </a:txBody>
                  <a:tcPr marT="16725" marB="16725" marR="33475" marL="3347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57250">
                <a:tc>
                  <a:txBody>
                    <a:bodyPr/>
                    <a:lstStyle/>
                    <a:p>
                      <a:pPr indent="0" lvl="0" marL="0" marR="0" rtl="0" algn="l">
                        <a:spcBef>
                          <a:spcPts val="0"/>
                        </a:spcBef>
                        <a:spcAft>
                          <a:spcPts val="0"/>
                        </a:spcAft>
                        <a:buNone/>
                      </a:pPr>
                      <a:r>
                        <a:rPr b="1" lang="en-GB" sz="800" u="none" cap="none" strike="noStrike">
                          <a:latin typeface="Century Gothic"/>
                          <a:ea typeface="Century Gothic"/>
                          <a:cs typeface="Century Gothic"/>
                          <a:sym typeface="Century Gothic"/>
                        </a:rPr>
                        <a:t>Innovation and Differentiation</a:t>
                      </a:r>
                      <a:endParaRPr/>
                    </a:p>
                  </a:txBody>
                  <a:tcPr marT="16725" marB="16725" marR="33475" marL="33475"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800" u="none" cap="none" strike="noStrike">
                          <a:latin typeface="Century Gothic"/>
                          <a:ea typeface="Century Gothic"/>
                          <a:cs typeface="Century Gothic"/>
                          <a:sym typeface="Century Gothic"/>
                        </a:rPr>
                        <a:t>The degree of innovation and uniqueness of the submission compared to existing solutions in the market.</a:t>
                      </a:r>
                      <a:endParaRPr/>
                    </a:p>
                  </a:txBody>
                  <a:tcPr marT="16725" marB="16725" marR="33475" marL="33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800">
                        <a:latin typeface="Century Gothic"/>
                        <a:ea typeface="Century Gothic"/>
                        <a:cs typeface="Century Gothic"/>
                        <a:sym typeface="Century Gothic"/>
                      </a:endParaRPr>
                    </a:p>
                  </a:txBody>
                  <a:tcPr marT="16725" marB="16725" marR="33475" marL="33475">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9" name="Google Shape;169;p8"/>
          <p:cNvSpPr/>
          <p:nvPr/>
        </p:nvSpPr>
        <p:spPr>
          <a:xfrm>
            <a:off x="4889500" y="1644650"/>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br>
              <a:rPr b="0" i="0" lang="en-GB" sz="1800" u="none" cap="none" strike="noStrike">
                <a:solidFill>
                  <a:schemeClr val="dk1"/>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
        <p:nvSpPr>
          <p:cNvPr id="170" name="Google Shape;170;p8"/>
          <p:cNvSpPr txBox="1"/>
          <p:nvPr/>
        </p:nvSpPr>
        <p:spPr>
          <a:xfrm>
            <a:off x="344004" y="4723691"/>
            <a:ext cx="3861661"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800">
                <a:solidFill>
                  <a:schemeClr val="dk1"/>
                </a:solidFill>
                <a:latin typeface="Century Gothic"/>
                <a:ea typeface="Century Gothic"/>
                <a:cs typeface="Century Gothic"/>
                <a:sym typeface="Century Gothic"/>
              </a:rPr>
              <a:t>Scoring Guidelines:</a:t>
            </a:r>
            <a:endParaRPr/>
          </a:p>
          <a:p>
            <a:pPr indent="0" lvl="0" marL="0" marR="0" rtl="0" algn="l">
              <a:spcBef>
                <a:spcPts val="0"/>
              </a:spcBef>
              <a:spcAft>
                <a:spcPts val="0"/>
              </a:spcAft>
              <a:buNone/>
            </a:pPr>
            <a:r>
              <a:t/>
            </a:r>
            <a:endParaRPr b="0" i="0" sz="8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800"/>
              <a:buFont typeface="Courier New"/>
              <a:buChar char="o"/>
            </a:pPr>
            <a:r>
              <a:rPr b="1" i="0" lang="en-GB" sz="800">
                <a:solidFill>
                  <a:schemeClr val="dk1"/>
                </a:solidFill>
                <a:latin typeface="Century Gothic"/>
                <a:ea typeface="Century Gothic"/>
                <a:cs typeface="Century Gothic"/>
                <a:sym typeface="Century Gothic"/>
              </a:rPr>
              <a:t>Score (Out of 10):</a:t>
            </a:r>
            <a:r>
              <a:rPr b="0" i="0" lang="en-GB" sz="800">
                <a:solidFill>
                  <a:schemeClr val="dk1"/>
                </a:solidFill>
                <a:latin typeface="Century Gothic"/>
                <a:ea typeface="Century Gothic"/>
                <a:cs typeface="Century Gothic"/>
                <a:sym typeface="Century Gothic"/>
              </a:rPr>
              <a:t> Assign a score from 1 to 10 for each criterion, where 1 represents the lowest performance and 10 represents the highest performance.</a:t>
            </a:r>
            <a:endParaRPr/>
          </a:p>
          <a:p>
            <a:pPr indent="-171450" lvl="0" marL="17145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Use qualitative and quantitative measures to assess each criterion objectively.</a:t>
            </a:r>
            <a:endParaRPr/>
          </a:p>
          <a:p>
            <a:pPr indent="-171450" lvl="0" marL="17145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Consider using a standardized scoring rubric or guidelines to ensure consistency in evaluation across submissions.</a:t>
            </a:r>
            <a:endParaRPr/>
          </a:p>
          <a:p>
            <a:pPr indent="-171450" lvl="0" marL="17145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Collaborate with relevant stakeholders to gather input and insights when scoring each criterion.</a:t>
            </a:r>
            <a:endParaRPr/>
          </a:p>
          <a:p>
            <a:pPr indent="-171450" lvl="0" marL="171450" marR="0" rtl="0" algn="l">
              <a:spcBef>
                <a:spcPts val="0"/>
              </a:spcBef>
              <a:spcAft>
                <a:spcPts val="0"/>
              </a:spcAft>
              <a:buClr>
                <a:schemeClr val="dk1"/>
              </a:buClr>
              <a:buSzPts val="800"/>
              <a:buFont typeface="Courier New"/>
              <a:buChar char="o"/>
            </a:pPr>
            <a:r>
              <a:rPr b="0" i="0" lang="en-GB" sz="800">
                <a:solidFill>
                  <a:schemeClr val="dk1"/>
                </a:solidFill>
                <a:latin typeface="Century Gothic"/>
                <a:ea typeface="Century Gothic"/>
                <a:cs typeface="Century Gothic"/>
                <a:sym typeface="Century Gothic"/>
              </a:rPr>
              <a:t>Ensure that scoring reflects the relative importance of each criterion as per the assigned weightings.</a:t>
            </a:r>
            <a:endParaRPr/>
          </a:p>
        </p:txBody>
      </p:sp>
      <p:sp>
        <p:nvSpPr>
          <p:cNvPr id="171" name="Google Shape;171;p8"/>
          <p:cNvSpPr txBox="1"/>
          <p:nvPr/>
        </p:nvSpPr>
        <p:spPr>
          <a:xfrm>
            <a:off x="355927" y="668394"/>
            <a:ext cx="211628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000">
                <a:solidFill>
                  <a:schemeClr val="dk1"/>
                </a:solidFill>
                <a:latin typeface="Century Gothic"/>
                <a:ea typeface="Century Gothic"/>
                <a:cs typeface="Century Gothic"/>
                <a:sym typeface="Century Gothic"/>
              </a:rPr>
              <a:t>Assessment Criteria for Scoring</a:t>
            </a:r>
            <a:endParaRPr sz="1000">
              <a:solidFill>
                <a:schemeClr val="dk1"/>
              </a:solidFill>
              <a:latin typeface="Century Gothic"/>
              <a:ea typeface="Century Gothic"/>
              <a:cs typeface="Century Gothic"/>
              <a:sym typeface="Century Gothic"/>
            </a:endParaRPr>
          </a:p>
        </p:txBody>
      </p:sp>
      <p:sp>
        <p:nvSpPr>
          <p:cNvPr id="172" name="Google Shape;172;p8"/>
          <p:cNvSpPr txBox="1"/>
          <p:nvPr/>
        </p:nvSpPr>
        <p:spPr>
          <a:xfrm>
            <a:off x="4744699" y="668393"/>
            <a:ext cx="243368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000">
                <a:solidFill>
                  <a:schemeClr val="dk1"/>
                </a:solidFill>
                <a:latin typeface="Century Gothic"/>
                <a:ea typeface="Century Gothic"/>
                <a:cs typeface="Century Gothic"/>
                <a:sym typeface="Century Gothic"/>
              </a:rPr>
              <a:t>Prioritization </a:t>
            </a:r>
            <a:r>
              <a:rPr b="1" lang="en-GB" sz="1000">
                <a:solidFill>
                  <a:schemeClr val="dk1"/>
                </a:solidFill>
                <a:latin typeface="Century Gothic"/>
                <a:ea typeface="Century Gothic"/>
                <a:cs typeface="Century Gothic"/>
                <a:sym typeface="Century Gothic"/>
              </a:rPr>
              <a:t>System </a:t>
            </a:r>
            <a:r>
              <a:rPr b="1" i="0" lang="en-GB" sz="1000">
                <a:solidFill>
                  <a:schemeClr val="dk1"/>
                </a:solidFill>
                <a:latin typeface="Century Gothic"/>
                <a:ea typeface="Century Gothic"/>
                <a:cs typeface="Century Gothic"/>
                <a:sym typeface="Century Gothic"/>
              </a:rPr>
              <a:t>Weighting Scale</a:t>
            </a:r>
            <a:endParaRPr sz="1000">
              <a:solidFill>
                <a:schemeClr val="dk1"/>
              </a:solidFill>
              <a:latin typeface="Century Gothic"/>
              <a:ea typeface="Century Gothic"/>
              <a:cs typeface="Century Gothic"/>
              <a:sym typeface="Century Gothic"/>
            </a:endParaRPr>
          </a:p>
        </p:txBody>
      </p:sp>
      <p:sp>
        <p:nvSpPr>
          <p:cNvPr id="173" name="Google Shape;173;p8"/>
          <p:cNvSpPr txBox="1"/>
          <p:nvPr/>
        </p:nvSpPr>
        <p:spPr>
          <a:xfrm>
            <a:off x="8055402" y="668392"/>
            <a:ext cx="2534668"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000">
                <a:solidFill>
                  <a:schemeClr val="dk1"/>
                </a:solidFill>
                <a:latin typeface="Century Gothic"/>
                <a:ea typeface="Century Gothic"/>
                <a:cs typeface="Century Gothic"/>
                <a:sym typeface="Century Gothic"/>
              </a:rPr>
              <a:t>Interpretation of Priority Score Ranges</a:t>
            </a:r>
            <a:endParaRPr sz="1000">
              <a:solidFill>
                <a:schemeClr val="dk1"/>
              </a:solidFill>
              <a:latin typeface="Century Gothic"/>
              <a:ea typeface="Century Gothic"/>
              <a:cs typeface="Century Gothic"/>
              <a:sym typeface="Century Gothic"/>
            </a:endParaRPr>
          </a:p>
        </p:txBody>
      </p:sp>
      <p:sp>
        <p:nvSpPr>
          <p:cNvPr id="174" name="Google Shape;174;p8"/>
          <p:cNvSpPr/>
          <p:nvPr/>
        </p:nvSpPr>
        <p:spPr>
          <a:xfrm>
            <a:off x="9490153" y="6189608"/>
            <a:ext cx="1965278" cy="415498"/>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 name="Google Shape;175;p8"/>
          <p:cNvSpPr txBox="1"/>
          <p:nvPr/>
        </p:nvSpPr>
        <p:spPr>
          <a:xfrm>
            <a:off x="9582580" y="6189608"/>
            <a:ext cx="181515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lt1"/>
                </a:solidFill>
                <a:latin typeface="Century Gothic"/>
                <a:ea typeface="Century Gothic"/>
                <a:cs typeface="Century Gothic"/>
                <a:sym typeface="Century Gothic"/>
              </a:rPr>
              <a:t>[Click here to Download the prioritization tool]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pic>
        <p:nvPicPr>
          <p:cNvPr descr="A screenshot of a computer&#10;&#10;Description automatically generated" id="180" name="Google Shape;180;p9"/>
          <p:cNvPicPr preferRelativeResize="0"/>
          <p:nvPr/>
        </p:nvPicPr>
        <p:blipFill rotWithShape="1">
          <a:blip r:embed="rId3">
            <a:alphaModFix/>
          </a:blip>
          <a:srcRect b="0" l="0" r="0" t="0"/>
          <a:stretch/>
        </p:blipFill>
        <p:spPr>
          <a:xfrm>
            <a:off x="2497542" y="313899"/>
            <a:ext cx="8616422" cy="5773003"/>
          </a:xfrm>
          <a:prstGeom prst="rect">
            <a:avLst/>
          </a:prstGeom>
          <a:noFill/>
          <a:ln>
            <a:noFill/>
          </a:ln>
        </p:spPr>
      </p:pic>
      <p:sp>
        <p:nvSpPr>
          <p:cNvPr id="181" name="Google Shape;181;p9"/>
          <p:cNvSpPr txBox="1"/>
          <p:nvPr/>
        </p:nvSpPr>
        <p:spPr>
          <a:xfrm>
            <a:off x="547600" y="2828834"/>
            <a:ext cx="1949942"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dk1"/>
                </a:solidFill>
                <a:latin typeface="Century Gothic"/>
                <a:ea typeface="Century Gothic"/>
                <a:cs typeface="Century Gothic"/>
                <a:sym typeface="Century Gothic"/>
              </a:rPr>
              <a:t>Proposed System Architecture (Cloud Hosting)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A screenshot of a computer&#10;&#10;Description automatically generated" id="186" name="Google Shape;186;p10"/>
          <p:cNvPicPr preferRelativeResize="0"/>
          <p:nvPr/>
        </p:nvPicPr>
        <p:blipFill rotWithShape="1">
          <a:blip r:embed="rId3">
            <a:alphaModFix/>
          </a:blip>
          <a:srcRect b="0" l="0" r="0" t="0"/>
          <a:stretch/>
        </p:blipFill>
        <p:spPr>
          <a:xfrm>
            <a:off x="3357348" y="173359"/>
            <a:ext cx="7362457" cy="6211032"/>
          </a:xfrm>
          <a:prstGeom prst="rect">
            <a:avLst/>
          </a:prstGeom>
          <a:noFill/>
          <a:ln>
            <a:noFill/>
          </a:ln>
        </p:spPr>
      </p:pic>
      <p:sp>
        <p:nvSpPr>
          <p:cNvPr id="187" name="Google Shape;187;p10"/>
          <p:cNvSpPr txBox="1"/>
          <p:nvPr/>
        </p:nvSpPr>
        <p:spPr>
          <a:xfrm>
            <a:off x="547600" y="2828834"/>
            <a:ext cx="194994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chemeClr val="dk1"/>
                </a:solidFill>
                <a:latin typeface="Century Gothic"/>
                <a:ea typeface="Century Gothic"/>
                <a:cs typeface="Century Gothic"/>
                <a:sym typeface="Century Gothic"/>
              </a:rPr>
              <a:t>Proposed System Architecture (On-Prem Hosting)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graphicFrame>
        <p:nvGraphicFramePr>
          <p:cNvPr id="192" name="Google Shape;192;p11"/>
          <p:cNvGraphicFramePr/>
          <p:nvPr/>
        </p:nvGraphicFramePr>
        <p:xfrm>
          <a:off x="675520" y="1170489"/>
          <a:ext cx="3000000" cy="3000000"/>
        </p:xfrm>
        <a:graphic>
          <a:graphicData uri="http://schemas.openxmlformats.org/drawingml/2006/table">
            <a:tbl>
              <a:tblPr>
                <a:noFill/>
                <a:tableStyleId>{2D9D0671-3B3A-4BBB-9704-2ACD332EF75A}</a:tableStyleId>
              </a:tblPr>
              <a:tblGrid>
                <a:gridCol w="2016300"/>
                <a:gridCol w="5784350"/>
              </a:tblGrid>
              <a:tr h="349600">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Thematic Area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410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Client Satisfaction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Measure improvements in customer satisfaction metrics, such as Net Promoter Score (NPS) or Customer Satisfaction Index (CSI).</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5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Client Growth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Evaluate the impact of the PoC on acquiring new clients, increasing market share, and expanding customer base.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5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Client Offering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Assess enhancements to client offerings, including new products/services, features, or customization options.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0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Client Engagement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Analyze improvements in client engagement metrics, such as customer retention rates, frequency of interactions, and cross-selling success.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5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Workforce Productivity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Measure the efficiency gains and productivity improvements achieved by employees as a result of the PoC implementation.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58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Regulatory Compliance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Ensure adherence to regulatory requirements and assess the effectiveness of compliance measures implemented through the PoC.</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0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Always On/Always Secure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Evaluate the reliability and security enhancements achieved through the PoC, ensuring continuous availability and data protection.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758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Future-proof Systems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Assess the scalability, adaptability, and resilience of systems implemented in the PoC to meet future business needs and technological advancements.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0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Improved Efficiency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Quantify the efficiency gains and cost savings realized through process optimization, automation, or resource utilization improvements.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0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Revenue Growth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Measure the impact of the PoC on revenue generation, including increases in sales, revenue per client, and overall revenue growth.</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09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Revenue Defence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Evaluate the PoC's effectiveness in mitigating revenue loss, minimizing churn, and defending against competitive threats.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93" name="Google Shape;193;p11"/>
          <p:cNvSpPr txBox="1"/>
          <p:nvPr/>
        </p:nvSpPr>
        <p:spPr>
          <a:xfrm>
            <a:off x="675520" y="601437"/>
            <a:ext cx="55851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800">
                <a:solidFill>
                  <a:schemeClr val="dk1"/>
                </a:solidFill>
                <a:latin typeface="Century Gothic"/>
                <a:ea typeface="Century Gothic"/>
                <a:cs typeface="Century Gothic"/>
                <a:sym typeface="Century Gothic"/>
              </a:rPr>
              <a:t>Benefit Realization Framework for PoC Proposals</a:t>
            </a:r>
            <a:endParaRPr sz="1800">
              <a:solidFill>
                <a:schemeClr val="dk1"/>
              </a:solidFill>
              <a:latin typeface="Century Gothic"/>
              <a:ea typeface="Century Gothic"/>
              <a:cs typeface="Century Gothic"/>
              <a:sym typeface="Century Gothic"/>
            </a:endParaRPr>
          </a:p>
        </p:txBody>
      </p:sp>
      <p:sp>
        <p:nvSpPr>
          <p:cNvPr id="194" name="Google Shape;194;p11"/>
          <p:cNvSpPr/>
          <p:nvPr/>
        </p:nvSpPr>
        <p:spPr>
          <a:xfrm>
            <a:off x="8730641" y="786103"/>
            <a:ext cx="3131507" cy="5188810"/>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11"/>
          <p:cNvSpPr txBox="1"/>
          <p:nvPr/>
        </p:nvSpPr>
        <p:spPr>
          <a:xfrm>
            <a:off x="8864251" y="1170489"/>
            <a:ext cx="2864285" cy="42319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1050">
                <a:solidFill>
                  <a:schemeClr val="dk1"/>
                </a:solidFill>
                <a:latin typeface="Century Gothic"/>
                <a:ea typeface="Century Gothic"/>
                <a:cs typeface="Century Gothic"/>
                <a:sym typeface="Century Gothic"/>
              </a:rPr>
              <a:t>How to implement the framework for ROI tracking</a:t>
            </a:r>
            <a:endParaRPr/>
          </a:p>
          <a:p>
            <a:pPr indent="0" lvl="0" marL="0" marR="0" rtl="0" algn="l">
              <a:spcBef>
                <a:spcPts val="0"/>
              </a:spcBef>
              <a:spcAft>
                <a:spcPts val="0"/>
              </a:spcAft>
              <a:buNone/>
            </a:pPr>
            <a:r>
              <a:t/>
            </a:r>
            <a:endParaRPr sz="8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800"/>
              <a:buFont typeface="Courier New"/>
              <a:buChar char="o"/>
            </a:pPr>
            <a:r>
              <a:rPr b="1" i="0" lang="en-GB" sz="800">
                <a:solidFill>
                  <a:schemeClr val="dk1"/>
                </a:solidFill>
                <a:latin typeface="Century Gothic"/>
                <a:ea typeface="Century Gothic"/>
                <a:cs typeface="Century Gothic"/>
                <a:sym typeface="Century Gothic"/>
              </a:rPr>
              <a:t>Define Key Performance Indicators (KPIs):</a:t>
            </a:r>
            <a:r>
              <a:rPr b="0" i="0" lang="en-GB" sz="800">
                <a:solidFill>
                  <a:schemeClr val="dk1"/>
                </a:solidFill>
                <a:latin typeface="Century Gothic"/>
                <a:ea typeface="Century Gothic"/>
                <a:cs typeface="Century Gothic"/>
                <a:sym typeface="Century Gothic"/>
              </a:rPr>
              <a:t> Identify specific metrics and KPIs for each thematic area to measure the desired outcomes.</a:t>
            </a:r>
            <a:endParaRPr/>
          </a:p>
          <a:p>
            <a:pPr indent="-120650" lvl="0" marL="171450" marR="0" rtl="0" algn="l">
              <a:spcBef>
                <a:spcPts val="0"/>
              </a:spcBef>
              <a:spcAft>
                <a:spcPts val="0"/>
              </a:spcAft>
              <a:buClr>
                <a:schemeClr val="dk1"/>
              </a:buClr>
              <a:buSzPts val="800"/>
              <a:buFont typeface="Courier New"/>
              <a:buNone/>
            </a:pPr>
            <a:r>
              <a:t/>
            </a:r>
            <a:endParaRPr b="0" i="0" sz="8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800"/>
              <a:buFont typeface="Courier New"/>
              <a:buChar char="o"/>
            </a:pPr>
            <a:r>
              <a:rPr b="1" i="0" lang="en-GB" sz="800">
                <a:solidFill>
                  <a:schemeClr val="dk1"/>
                </a:solidFill>
                <a:latin typeface="Century Gothic"/>
                <a:ea typeface="Century Gothic"/>
                <a:cs typeface="Century Gothic"/>
                <a:sym typeface="Century Gothic"/>
              </a:rPr>
              <a:t>Baseline Assessment:</a:t>
            </a:r>
            <a:r>
              <a:rPr b="0" i="0" lang="en-GB" sz="800">
                <a:solidFill>
                  <a:schemeClr val="dk1"/>
                </a:solidFill>
                <a:latin typeface="Century Gothic"/>
                <a:ea typeface="Century Gothic"/>
                <a:cs typeface="Century Gothic"/>
                <a:sym typeface="Century Gothic"/>
              </a:rPr>
              <a:t> Establish baseline measurements for each KPI to provide a benchmark for evaluating the PoC's impact.</a:t>
            </a:r>
            <a:endParaRPr/>
          </a:p>
          <a:p>
            <a:pPr indent="-120650" lvl="0" marL="171450" marR="0" rtl="0" algn="l">
              <a:spcBef>
                <a:spcPts val="0"/>
              </a:spcBef>
              <a:spcAft>
                <a:spcPts val="0"/>
              </a:spcAft>
              <a:buClr>
                <a:schemeClr val="dk1"/>
              </a:buClr>
              <a:buSzPts val="800"/>
              <a:buFont typeface="Courier New"/>
              <a:buNone/>
            </a:pPr>
            <a:r>
              <a:t/>
            </a:r>
            <a:endParaRPr b="0" i="0" sz="8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800"/>
              <a:buFont typeface="Courier New"/>
              <a:buChar char="o"/>
            </a:pPr>
            <a:r>
              <a:rPr b="1" i="0" lang="en-GB" sz="800">
                <a:solidFill>
                  <a:schemeClr val="dk1"/>
                </a:solidFill>
                <a:latin typeface="Century Gothic"/>
                <a:ea typeface="Century Gothic"/>
                <a:cs typeface="Century Gothic"/>
                <a:sym typeface="Century Gothic"/>
              </a:rPr>
              <a:t>PoC Implementation:</a:t>
            </a:r>
            <a:r>
              <a:rPr b="0" i="0" lang="en-GB" sz="800">
                <a:solidFill>
                  <a:schemeClr val="dk1"/>
                </a:solidFill>
                <a:latin typeface="Century Gothic"/>
                <a:ea typeface="Century Gothic"/>
                <a:cs typeface="Century Gothic"/>
                <a:sym typeface="Century Gothic"/>
              </a:rPr>
              <a:t> Execute the PoC according to the proposed solution, ensuring alignment with the identified thematic areas and objectives.</a:t>
            </a:r>
            <a:endParaRPr/>
          </a:p>
          <a:p>
            <a:pPr indent="-120650" lvl="0" marL="171450" marR="0" rtl="0" algn="l">
              <a:spcBef>
                <a:spcPts val="0"/>
              </a:spcBef>
              <a:spcAft>
                <a:spcPts val="0"/>
              </a:spcAft>
              <a:buClr>
                <a:schemeClr val="dk1"/>
              </a:buClr>
              <a:buSzPts val="800"/>
              <a:buFont typeface="Courier New"/>
              <a:buNone/>
            </a:pPr>
            <a:r>
              <a:t/>
            </a:r>
            <a:endParaRPr b="0" i="0" sz="8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800"/>
              <a:buFont typeface="Courier New"/>
              <a:buChar char="o"/>
            </a:pPr>
            <a:r>
              <a:rPr b="1" i="0" lang="en-GB" sz="800">
                <a:solidFill>
                  <a:schemeClr val="dk1"/>
                </a:solidFill>
                <a:latin typeface="Century Gothic"/>
                <a:ea typeface="Century Gothic"/>
                <a:cs typeface="Century Gothic"/>
                <a:sym typeface="Century Gothic"/>
              </a:rPr>
              <a:t>Monitoring and Evaluation:</a:t>
            </a:r>
            <a:r>
              <a:rPr b="0" i="0" lang="en-GB" sz="800">
                <a:solidFill>
                  <a:schemeClr val="dk1"/>
                </a:solidFill>
                <a:latin typeface="Century Gothic"/>
                <a:ea typeface="Century Gothic"/>
                <a:cs typeface="Century Gothic"/>
                <a:sym typeface="Century Gothic"/>
              </a:rPr>
              <a:t> Continuously monitor the performance of the PoC against the established KPIs, collecting relevant data and feedback.</a:t>
            </a:r>
            <a:endParaRPr/>
          </a:p>
          <a:p>
            <a:pPr indent="-120650" lvl="0" marL="171450" marR="0" rtl="0" algn="l">
              <a:spcBef>
                <a:spcPts val="0"/>
              </a:spcBef>
              <a:spcAft>
                <a:spcPts val="0"/>
              </a:spcAft>
              <a:buClr>
                <a:schemeClr val="dk1"/>
              </a:buClr>
              <a:buSzPts val="800"/>
              <a:buFont typeface="Courier New"/>
              <a:buNone/>
            </a:pPr>
            <a:r>
              <a:t/>
            </a:r>
            <a:endParaRPr b="0" i="0" sz="8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800"/>
              <a:buFont typeface="Courier New"/>
              <a:buChar char="o"/>
            </a:pPr>
            <a:r>
              <a:rPr b="1" i="0" lang="en-GB" sz="800">
                <a:solidFill>
                  <a:schemeClr val="dk1"/>
                </a:solidFill>
                <a:latin typeface="Century Gothic"/>
                <a:ea typeface="Century Gothic"/>
                <a:cs typeface="Century Gothic"/>
                <a:sym typeface="Century Gothic"/>
              </a:rPr>
              <a:t>Benefit Analysis:</a:t>
            </a:r>
            <a:r>
              <a:rPr b="0" i="0" lang="en-GB" sz="800">
                <a:solidFill>
                  <a:schemeClr val="dk1"/>
                </a:solidFill>
                <a:latin typeface="Century Gothic"/>
                <a:ea typeface="Century Gothic"/>
                <a:cs typeface="Century Gothic"/>
                <a:sym typeface="Century Gothic"/>
              </a:rPr>
              <a:t> Analyze the collected data to assess the realized benefits and impacts of the PoC across the thematic areas.</a:t>
            </a:r>
            <a:endParaRPr/>
          </a:p>
          <a:p>
            <a:pPr indent="-120650" lvl="0" marL="171450" marR="0" rtl="0" algn="l">
              <a:spcBef>
                <a:spcPts val="0"/>
              </a:spcBef>
              <a:spcAft>
                <a:spcPts val="0"/>
              </a:spcAft>
              <a:buClr>
                <a:schemeClr val="dk1"/>
              </a:buClr>
              <a:buSzPts val="800"/>
              <a:buFont typeface="Courier New"/>
              <a:buNone/>
            </a:pPr>
            <a:r>
              <a:t/>
            </a:r>
            <a:endParaRPr b="0" i="0" sz="8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800"/>
              <a:buFont typeface="Courier New"/>
              <a:buChar char="o"/>
            </a:pPr>
            <a:r>
              <a:rPr b="1" i="0" lang="en-GB" sz="800">
                <a:solidFill>
                  <a:schemeClr val="dk1"/>
                </a:solidFill>
                <a:latin typeface="Century Gothic"/>
                <a:ea typeface="Century Gothic"/>
                <a:cs typeface="Century Gothic"/>
                <a:sym typeface="Century Gothic"/>
              </a:rPr>
              <a:t>Reporting and Communication:</a:t>
            </a:r>
            <a:r>
              <a:rPr b="0" i="0" lang="en-GB" sz="800">
                <a:solidFill>
                  <a:schemeClr val="dk1"/>
                </a:solidFill>
                <a:latin typeface="Century Gothic"/>
                <a:ea typeface="Century Gothic"/>
                <a:cs typeface="Century Gothic"/>
                <a:sym typeface="Century Gothic"/>
              </a:rPr>
              <a:t> Prepare comprehensive reports summarizing the findings and insights gained from the benefit realization analysis.</a:t>
            </a:r>
            <a:endParaRPr/>
          </a:p>
          <a:p>
            <a:pPr indent="-120650" lvl="0" marL="171450" marR="0" rtl="0" algn="l">
              <a:spcBef>
                <a:spcPts val="0"/>
              </a:spcBef>
              <a:spcAft>
                <a:spcPts val="0"/>
              </a:spcAft>
              <a:buClr>
                <a:schemeClr val="dk1"/>
              </a:buClr>
              <a:buSzPts val="800"/>
              <a:buFont typeface="Courier New"/>
              <a:buNone/>
            </a:pPr>
            <a:r>
              <a:t/>
            </a:r>
            <a:endParaRPr b="0" i="0" sz="800">
              <a:solidFill>
                <a:schemeClr val="dk1"/>
              </a:solidFill>
              <a:latin typeface="Century Gothic"/>
              <a:ea typeface="Century Gothic"/>
              <a:cs typeface="Century Gothic"/>
              <a:sym typeface="Century Gothic"/>
            </a:endParaRPr>
          </a:p>
          <a:p>
            <a:pPr indent="-171450" lvl="0" marL="171450" marR="0" rtl="0" algn="l">
              <a:spcBef>
                <a:spcPts val="0"/>
              </a:spcBef>
              <a:spcAft>
                <a:spcPts val="0"/>
              </a:spcAft>
              <a:buClr>
                <a:schemeClr val="dk1"/>
              </a:buClr>
              <a:buSzPts val="800"/>
              <a:buFont typeface="Courier New"/>
              <a:buChar char="o"/>
            </a:pPr>
            <a:r>
              <a:rPr b="1" i="0" lang="en-GB" sz="800">
                <a:solidFill>
                  <a:schemeClr val="dk1"/>
                </a:solidFill>
                <a:latin typeface="Century Gothic"/>
                <a:ea typeface="Century Gothic"/>
                <a:cs typeface="Century Gothic"/>
                <a:sym typeface="Century Gothic"/>
              </a:rPr>
              <a:t>Iterative Improvement:</a:t>
            </a:r>
            <a:r>
              <a:rPr b="0" i="0" lang="en-GB" sz="800">
                <a:solidFill>
                  <a:schemeClr val="dk1"/>
                </a:solidFill>
                <a:latin typeface="Century Gothic"/>
                <a:ea typeface="Century Gothic"/>
                <a:cs typeface="Century Gothic"/>
                <a:sym typeface="Century Gothic"/>
              </a:rPr>
              <a:t> Use the insights gained to refine and optimize future PoC proposals, ensuring continuous improvement and alignment with strategic objectives.</a:t>
            </a:r>
            <a:endParaRPr/>
          </a:p>
        </p:txBody>
      </p:sp>
      <p:sp>
        <p:nvSpPr>
          <p:cNvPr id="196" name="Google Shape;196;p11"/>
          <p:cNvSpPr/>
          <p:nvPr/>
        </p:nvSpPr>
        <p:spPr>
          <a:xfrm>
            <a:off x="9270968" y="6151550"/>
            <a:ext cx="2591180" cy="415498"/>
          </a:xfrm>
          <a:prstGeom prst="roundRect">
            <a:avLst>
              <a:gd fmla="val 16667" name="adj"/>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11"/>
          <p:cNvSpPr txBox="1"/>
          <p:nvPr/>
        </p:nvSpPr>
        <p:spPr>
          <a:xfrm>
            <a:off x="9270968" y="6151550"/>
            <a:ext cx="253348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000">
                <a:solidFill>
                  <a:schemeClr val="lt1"/>
                </a:solidFill>
                <a:latin typeface="Century Gothic"/>
                <a:ea typeface="Century Gothic"/>
                <a:cs typeface="Century Gothic"/>
                <a:sym typeface="Century Gothic"/>
              </a:rPr>
              <a:t>[Click here to Download the PoC Benefit realization tool]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graphicFrame>
        <p:nvGraphicFramePr>
          <p:cNvPr id="202" name="Google Shape;202;p12"/>
          <p:cNvGraphicFramePr/>
          <p:nvPr/>
        </p:nvGraphicFramePr>
        <p:xfrm>
          <a:off x="1050878" y="1159204"/>
          <a:ext cx="3000000" cy="3000000"/>
        </p:xfrm>
        <a:graphic>
          <a:graphicData uri="http://schemas.openxmlformats.org/drawingml/2006/table">
            <a:tbl>
              <a:tblPr>
                <a:noFill/>
                <a:tableStyleId>{2D9D0671-3B3A-4BBB-9704-2ACD332EF75A}</a:tableStyleId>
              </a:tblPr>
              <a:tblGrid>
                <a:gridCol w="1856700"/>
                <a:gridCol w="8188500"/>
              </a:tblGrid>
              <a:tr h="299725">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Protocol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3955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Anonymization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Implement anonymization techniques to replace personally identifiable information (PII) with non-identifying placeholders or pseudonyms in datasets used for POCs.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55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 Minimization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Minimize the collection and retention of sensitive data to only what is necessary for the POC's objectives, reducing the risk exposure and compliance requirements associated with handling large volumes of data.</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5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Use of Dummy Data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Utilize dummy data or synthetic datasets that mimic the characteristics and structure of real data but do not contain any actual sensitive information, ensuring privacy and security during testing and development phases.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55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Encryption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Encrypt sensitive data at rest and in transit within the POC environment to safeguard confidentiality and prevent unauthorized access or interception by unauthorized parties.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5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Access Controls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Implement strict access controls and role-based permissions to restrict access to sensitive data within the POC environment, ensuring that only authorized personnel can view or manipulate data as needed.</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5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 Masking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Apply data masking techniques to obscure sensitive information in datasets used for testing or development purposes, allowing authorized users to work with realistic data while protecting individuals' privacy and confidentiality.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55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Secure Data Disposal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Develop procedures for secure data disposal, including the deletion or anonymization of data no longer needed for the POC, to prevent unauthorized access or accidental exposure of sensitive information.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5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Compliance Monitoring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Monitor data management practices within the POC environment to ensure compliance with relevant data protection regulations (e.g., GDPR, CCPA) and internal security policies governing the handling of sensitive data.</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5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 Ownership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Clearly define data ownership and responsibility within the POC environment, specifying who is accountable for managing, protecting, and maintaining the integrity of data throughout its lifecycle within the project.</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5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Audit Trails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Maintain detailed audit trails and logs of data access, manipulation, and transactions within the POC environment, enabling traceability and accountability in the event of security incidents or data breaches.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03" name="Google Shape;203;p12"/>
          <p:cNvSpPr txBox="1"/>
          <p:nvPr/>
        </p:nvSpPr>
        <p:spPr>
          <a:xfrm>
            <a:off x="1050878" y="482885"/>
            <a:ext cx="551430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1800">
                <a:solidFill>
                  <a:schemeClr val="dk1"/>
                </a:solidFill>
                <a:latin typeface="Century Gothic"/>
                <a:ea typeface="Century Gothic"/>
                <a:cs typeface="Century Gothic"/>
                <a:sym typeface="Century Gothic"/>
              </a:rPr>
              <a:t>Data Management Protocols for POCs</a:t>
            </a:r>
            <a:endParaRPr sz="1800">
              <a:solidFill>
                <a:schemeClr val="dk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graphicFrame>
        <p:nvGraphicFramePr>
          <p:cNvPr id="208" name="Google Shape;208;p13"/>
          <p:cNvGraphicFramePr/>
          <p:nvPr/>
        </p:nvGraphicFramePr>
        <p:xfrm>
          <a:off x="803929" y="1068512"/>
          <a:ext cx="3000000" cy="3000000"/>
        </p:xfrm>
        <a:graphic>
          <a:graphicData uri="http://schemas.openxmlformats.org/drawingml/2006/table">
            <a:tbl>
              <a:tblPr>
                <a:noFill/>
                <a:tableStyleId>{2D9D0671-3B3A-4BBB-9704-2ACD332EF75A}</a:tableStyleId>
              </a:tblPr>
              <a:tblGrid>
                <a:gridCol w="2543550"/>
                <a:gridCol w="7841100"/>
              </a:tblGrid>
              <a:tr h="255900">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Step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305500">
                <a:tc rowSpan="4">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Conduct Focus Groups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Organize focus group sessions with selected customers to gather in-depth insights and opinions on proposed solutions.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6277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Facilitate structured discussions to explore customer preferences, pain points, and expectations related to the proposed products.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82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Encourage open dialogue and active participation to uncover valuable feedback and perspectives.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82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Document key insights, observations, and themes emerging from the focus group discussions.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9700">
                <a:tc rowSpan="4">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Conduct Surveys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Design and administer surveys targeting a broader audience to gather quantitative data on product concepts and problem statements.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2482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Use survey tools and platforms to reach a diverse range of customers and collect feedback efficiently.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05500">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Include targeted questions to assess customer preferences, satisfaction levels, and willingness to adopt proposed solutions.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05500">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Analyze survey responses to identify trends, patterns, and areas of consensus or divergence among respondents.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05500">
                <a:tc rowSpan="4">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Conduct Interviews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Conduct one-on-one interviews with selected customers to delve deeper into specific issues, concerns, or opportunities identified.</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5500">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Customize interview questions to explore individual experiences, preferences, and insights relevant to the proposed solutions.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82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Listen actively to participant responses, probing for detailed explanations and uncovering nuanced perspectives.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9700">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Capture detailed notes and observations during interviews to capture valuable insights and identify common themes or pain points.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09700">
                <a:tc rowSpan="4">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Validate Product Concepts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5F8"/>
                    </a:solidFill>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Validate proposed product concepts and problem statements with target audience segments to ensure alignment with market needs.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2482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Present prototypes, mock-ups, or concept designs to solicit feedback and gauge initial reactions from customers.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05500">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Encourage participants to provide constructive feedback on usability, functionality, and overall appeal of the proposed solutions.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09700">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Iteratively refine product concepts based on customer insights and feedback to enhance product-market fit and alignment with needs.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5F8"/>
                    </a:solidFill>
                  </a:tcPr>
                </a:tc>
              </a:tr>
            </a:tbl>
          </a:graphicData>
        </a:graphic>
      </p:graphicFrame>
      <p:sp>
        <p:nvSpPr>
          <p:cNvPr id="209" name="Google Shape;209;p13"/>
          <p:cNvSpPr txBox="1"/>
          <p:nvPr/>
        </p:nvSpPr>
        <p:spPr>
          <a:xfrm>
            <a:off x="701458" y="561975"/>
            <a:ext cx="93907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Stakeholder Engagement: Product &amp; Problem Validation |</a:t>
            </a:r>
            <a:r>
              <a:rPr b="1" lang="en-GB" sz="1800">
                <a:solidFill>
                  <a:schemeClr val="dk1"/>
                </a:solidFill>
                <a:latin typeface="Century Gothic"/>
                <a:ea typeface="Century Gothic"/>
                <a:cs typeface="Century Gothic"/>
                <a:sym typeface="Century Gothic"/>
              </a:rPr>
              <a:t>Insight Collection </a:t>
            </a:r>
            <a:r>
              <a:rPr b="1" lang="en-GB" sz="1800">
                <a:solidFill>
                  <a:schemeClr val="dk2"/>
                </a:solidFill>
                <a:latin typeface="Century Gothic"/>
                <a:ea typeface="Century Gothic"/>
                <a:cs typeface="Century Gothic"/>
                <a:sym typeface="Century Gothic"/>
              </a:rPr>
              <a:t>Guide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4"/>
          <p:cNvSpPr txBox="1"/>
          <p:nvPr/>
        </p:nvSpPr>
        <p:spPr>
          <a:xfrm>
            <a:off x="526094" y="463463"/>
            <a:ext cx="966482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Stakeholder Engagement: Product &amp; Problem Validation | </a:t>
            </a:r>
            <a:r>
              <a:rPr b="1" lang="en-GB" sz="1800">
                <a:solidFill>
                  <a:schemeClr val="dk2"/>
                </a:solidFill>
                <a:latin typeface="Century Gothic"/>
                <a:ea typeface="Century Gothic"/>
                <a:cs typeface="Century Gothic"/>
                <a:sym typeface="Century Gothic"/>
              </a:rPr>
              <a:t>Segmentation Framework</a:t>
            </a:r>
            <a:endParaRPr/>
          </a:p>
        </p:txBody>
      </p:sp>
      <p:graphicFrame>
        <p:nvGraphicFramePr>
          <p:cNvPr id="215" name="Google Shape;215;p14"/>
          <p:cNvGraphicFramePr/>
          <p:nvPr/>
        </p:nvGraphicFramePr>
        <p:xfrm>
          <a:off x="635459" y="1140613"/>
          <a:ext cx="3000000" cy="3000000"/>
        </p:xfrm>
        <a:graphic>
          <a:graphicData uri="http://schemas.openxmlformats.org/drawingml/2006/table">
            <a:tbl>
              <a:tblPr>
                <a:noFill/>
                <a:tableStyleId>{2D9D0671-3B3A-4BBB-9704-2ACD332EF75A}</a:tableStyleId>
              </a:tblPr>
              <a:tblGrid>
                <a:gridCol w="1984450"/>
                <a:gridCol w="7814275"/>
              </a:tblGrid>
              <a:tr h="375475">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Criteria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4876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Demographic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Characteristics such as age, gender, income, education level, occupation, marital status, and location.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76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Psychographic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Lifestyle, values, attitudes, interests, hobbies, personality traits, behaviour patterns, and opinions.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01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Behavioural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Purchasing behaviour, usage patterns, brand loyalty, product/service preferences, buying frequency, purchase occasion, and benefits sought.</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01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Geographic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Location-based segmentation, including region, country, city size, climate, population density, urban/rural classification, and time zone.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27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Firmographic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Business-specific characteristics, including industry sector, company size, annual revenue, number of employees, location, and organizational structure.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127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Technographic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Technology-related attributes, such as software/hardware usage, adoption of emerging technologies, digital proficiency, and preferred communication channels.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001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Socioeconomic</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Socioeconomic status, including income level, occupation prestige, educational attainment, and social class.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5"/>
          <p:cNvSpPr txBox="1"/>
          <p:nvPr/>
        </p:nvSpPr>
        <p:spPr>
          <a:xfrm>
            <a:off x="526094" y="463463"/>
            <a:ext cx="77396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Stakeholder Engagement: Product &amp; Problem Validation |</a:t>
            </a:r>
            <a:r>
              <a:rPr b="1" lang="en-GB" sz="1800">
                <a:solidFill>
                  <a:schemeClr val="dk2"/>
                </a:solidFill>
                <a:latin typeface="Century Gothic"/>
                <a:ea typeface="Century Gothic"/>
                <a:cs typeface="Century Gothic"/>
                <a:sym typeface="Century Gothic"/>
              </a:rPr>
              <a:t>Workflow</a:t>
            </a:r>
            <a:endParaRPr/>
          </a:p>
        </p:txBody>
      </p:sp>
      <p:sp>
        <p:nvSpPr>
          <p:cNvPr id="221" name="Google Shape;221;p15"/>
          <p:cNvSpPr/>
          <p:nvPr/>
        </p:nvSpPr>
        <p:spPr>
          <a:xfrm>
            <a:off x="781002" y="2500335"/>
            <a:ext cx="1241946" cy="450376"/>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Identify Stakeholders</a:t>
            </a:r>
            <a:endParaRPr/>
          </a:p>
        </p:txBody>
      </p:sp>
      <p:sp>
        <p:nvSpPr>
          <p:cNvPr id="222" name="Google Shape;222;p15"/>
          <p:cNvSpPr/>
          <p:nvPr/>
        </p:nvSpPr>
        <p:spPr>
          <a:xfrm>
            <a:off x="2880610" y="2384329"/>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Define Objectives</a:t>
            </a:r>
            <a:endParaRPr/>
          </a:p>
        </p:txBody>
      </p:sp>
      <p:sp>
        <p:nvSpPr>
          <p:cNvPr id="223" name="Google Shape;223;p15"/>
          <p:cNvSpPr/>
          <p:nvPr/>
        </p:nvSpPr>
        <p:spPr>
          <a:xfrm>
            <a:off x="5011936" y="2384329"/>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000">
                <a:solidFill>
                  <a:schemeClr val="lt1"/>
                </a:solidFill>
                <a:latin typeface="Century Gothic"/>
                <a:ea typeface="Century Gothic"/>
                <a:cs typeface="Century Gothic"/>
                <a:sym typeface="Century Gothic"/>
              </a:rPr>
              <a:t>Segmentation</a:t>
            </a:r>
            <a:endParaRPr/>
          </a:p>
        </p:txBody>
      </p:sp>
      <p:sp>
        <p:nvSpPr>
          <p:cNvPr id="224" name="Google Shape;224;p15"/>
          <p:cNvSpPr/>
          <p:nvPr/>
        </p:nvSpPr>
        <p:spPr>
          <a:xfrm>
            <a:off x="7332055" y="2384329"/>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0" lang="en-GB" sz="1000">
                <a:solidFill>
                  <a:schemeClr val="lt1"/>
                </a:solidFill>
                <a:latin typeface="Century Gothic"/>
                <a:ea typeface="Century Gothic"/>
                <a:cs typeface="Century Gothic"/>
                <a:sym typeface="Century Gothic"/>
              </a:rPr>
              <a:t>Engagement Channels</a:t>
            </a:r>
            <a:endParaRPr sz="1000">
              <a:solidFill>
                <a:schemeClr val="lt1"/>
              </a:solidFill>
              <a:latin typeface="Century Gothic"/>
              <a:ea typeface="Century Gothic"/>
              <a:cs typeface="Century Gothic"/>
              <a:sym typeface="Century Gothic"/>
            </a:endParaRPr>
          </a:p>
        </p:txBody>
      </p:sp>
      <p:sp>
        <p:nvSpPr>
          <p:cNvPr id="225" name="Google Shape;225;p15"/>
          <p:cNvSpPr/>
          <p:nvPr/>
        </p:nvSpPr>
        <p:spPr>
          <a:xfrm>
            <a:off x="9463381" y="2384329"/>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0" lang="en-GB" sz="1000">
                <a:solidFill>
                  <a:schemeClr val="lt1"/>
                </a:solidFill>
                <a:latin typeface="Century Gothic"/>
                <a:ea typeface="Century Gothic"/>
                <a:cs typeface="Century Gothic"/>
                <a:sym typeface="Century Gothic"/>
              </a:rPr>
              <a:t>Feedback Collection</a:t>
            </a:r>
            <a:endParaRPr sz="1000">
              <a:solidFill>
                <a:schemeClr val="lt1"/>
              </a:solidFill>
              <a:latin typeface="Century Gothic"/>
              <a:ea typeface="Century Gothic"/>
              <a:cs typeface="Century Gothic"/>
              <a:sym typeface="Century Gothic"/>
            </a:endParaRPr>
          </a:p>
        </p:txBody>
      </p:sp>
      <p:sp>
        <p:nvSpPr>
          <p:cNvPr id="226" name="Google Shape;226;p15"/>
          <p:cNvSpPr/>
          <p:nvPr/>
        </p:nvSpPr>
        <p:spPr>
          <a:xfrm>
            <a:off x="7332055" y="3837819"/>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0" lang="en-GB" sz="1000">
                <a:solidFill>
                  <a:schemeClr val="lt1"/>
                </a:solidFill>
                <a:latin typeface="Century Gothic"/>
                <a:ea typeface="Century Gothic"/>
                <a:cs typeface="Century Gothic"/>
                <a:sym typeface="Century Gothic"/>
              </a:rPr>
              <a:t>Iterative Refinement</a:t>
            </a:r>
            <a:endParaRPr sz="1000">
              <a:solidFill>
                <a:schemeClr val="lt1"/>
              </a:solidFill>
              <a:latin typeface="Century Gothic"/>
              <a:ea typeface="Century Gothic"/>
              <a:cs typeface="Century Gothic"/>
              <a:sym typeface="Century Gothic"/>
            </a:endParaRPr>
          </a:p>
        </p:txBody>
      </p:sp>
      <p:sp>
        <p:nvSpPr>
          <p:cNvPr id="227" name="Google Shape;227;p15"/>
          <p:cNvSpPr/>
          <p:nvPr/>
        </p:nvSpPr>
        <p:spPr>
          <a:xfrm>
            <a:off x="9463381" y="3844643"/>
            <a:ext cx="1542197" cy="682389"/>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i="0" lang="en-GB" sz="1000">
                <a:solidFill>
                  <a:schemeClr val="lt1"/>
                </a:solidFill>
                <a:latin typeface="Century Gothic"/>
                <a:ea typeface="Century Gothic"/>
                <a:cs typeface="Century Gothic"/>
                <a:sym typeface="Century Gothic"/>
              </a:rPr>
              <a:t>Analysis and Insights</a:t>
            </a:r>
            <a:endParaRPr sz="1000">
              <a:solidFill>
                <a:schemeClr val="lt1"/>
              </a:solidFill>
              <a:latin typeface="Century Gothic"/>
              <a:ea typeface="Century Gothic"/>
              <a:cs typeface="Century Gothic"/>
              <a:sym typeface="Century Gothic"/>
            </a:endParaRPr>
          </a:p>
        </p:txBody>
      </p:sp>
      <p:cxnSp>
        <p:nvCxnSpPr>
          <p:cNvPr id="228" name="Google Shape;228;p15"/>
          <p:cNvCxnSpPr/>
          <p:nvPr/>
        </p:nvCxnSpPr>
        <p:spPr>
          <a:xfrm>
            <a:off x="2022948" y="2725523"/>
            <a:ext cx="857662" cy="1"/>
          </a:xfrm>
          <a:prstGeom prst="straightConnector1">
            <a:avLst/>
          </a:prstGeom>
          <a:noFill/>
          <a:ln cap="flat" cmpd="sng" w="19050">
            <a:solidFill>
              <a:schemeClr val="accent1"/>
            </a:solidFill>
            <a:prstDash val="solid"/>
            <a:miter lim="800000"/>
            <a:headEnd len="sm" w="sm" type="none"/>
            <a:tailEnd len="med" w="med" type="triangle"/>
          </a:ln>
        </p:spPr>
      </p:cxnSp>
      <p:cxnSp>
        <p:nvCxnSpPr>
          <p:cNvPr id="229" name="Google Shape;229;p15"/>
          <p:cNvCxnSpPr/>
          <p:nvPr/>
        </p:nvCxnSpPr>
        <p:spPr>
          <a:xfrm>
            <a:off x="4422807" y="2705052"/>
            <a:ext cx="589129"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230" name="Google Shape;230;p15"/>
          <p:cNvCxnSpPr/>
          <p:nvPr/>
        </p:nvCxnSpPr>
        <p:spPr>
          <a:xfrm>
            <a:off x="6554133" y="2725524"/>
            <a:ext cx="777922"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231" name="Google Shape;231;p15"/>
          <p:cNvCxnSpPr/>
          <p:nvPr/>
        </p:nvCxnSpPr>
        <p:spPr>
          <a:xfrm>
            <a:off x="8874252" y="2705052"/>
            <a:ext cx="589129" cy="0"/>
          </a:xfrm>
          <a:prstGeom prst="straightConnector1">
            <a:avLst/>
          </a:prstGeom>
          <a:noFill/>
          <a:ln cap="flat" cmpd="sng" w="19050">
            <a:solidFill>
              <a:schemeClr val="accent1"/>
            </a:solidFill>
            <a:prstDash val="solid"/>
            <a:miter lim="800000"/>
            <a:headEnd len="sm" w="sm" type="none"/>
            <a:tailEnd len="med" w="med" type="triangle"/>
          </a:ln>
        </p:spPr>
      </p:cxnSp>
      <p:cxnSp>
        <p:nvCxnSpPr>
          <p:cNvPr id="232" name="Google Shape;232;p15"/>
          <p:cNvCxnSpPr>
            <a:stCxn id="225" idx="3"/>
            <a:endCxn id="227" idx="3"/>
          </p:cNvCxnSpPr>
          <p:nvPr/>
        </p:nvCxnSpPr>
        <p:spPr>
          <a:xfrm>
            <a:off x="11005578" y="2725524"/>
            <a:ext cx="600" cy="1460400"/>
          </a:xfrm>
          <a:prstGeom prst="bentConnector3">
            <a:avLst>
              <a:gd fmla="val 38100000" name="adj1"/>
            </a:avLst>
          </a:prstGeom>
          <a:noFill/>
          <a:ln cap="flat" cmpd="sng" w="19050">
            <a:solidFill>
              <a:schemeClr val="accent1"/>
            </a:solidFill>
            <a:prstDash val="solid"/>
            <a:miter lim="800000"/>
            <a:headEnd len="sm" w="sm" type="none"/>
            <a:tailEnd len="med" w="med" type="triangle"/>
          </a:ln>
        </p:spPr>
      </p:cxnSp>
      <p:cxnSp>
        <p:nvCxnSpPr>
          <p:cNvPr id="233" name="Google Shape;233;p15"/>
          <p:cNvCxnSpPr>
            <a:stCxn id="227" idx="1"/>
            <a:endCxn id="226" idx="3"/>
          </p:cNvCxnSpPr>
          <p:nvPr/>
        </p:nvCxnSpPr>
        <p:spPr>
          <a:xfrm rot="10800000">
            <a:off x="8874181" y="4178938"/>
            <a:ext cx="589200" cy="6900"/>
          </a:xfrm>
          <a:prstGeom prst="straightConnector1">
            <a:avLst/>
          </a:prstGeom>
          <a:noFill/>
          <a:ln cap="flat" cmpd="sng" w="19050">
            <a:solidFill>
              <a:schemeClr val="accent1"/>
            </a:solidFill>
            <a:prstDash val="solid"/>
            <a:miter lim="800000"/>
            <a:headEnd len="sm" w="sm"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How Scrum Masters use Miro for user story mapping" id="238" name="Google Shape;238;p16"/>
          <p:cNvPicPr preferRelativeResize="0"/>
          <p:nvPr/>
        </p:nvPicPr>
        <p:blipFill rotWithShape="1">
          <a:blip r:embed="rId3">
            <a:alphaModFix/>
          </a:blip>
          <a:srcRect b="0" l="0" r="0" t="0"/>
          <a:stretch/>
        </p:blipFill>
        <p:spPr>
          <a:xfrm>
            <a:off x="2565803" y="679296"/>
            <a:ext cx="8472986" cy="5295616"/>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239" name="Google Shape;239;p16"/>
          <p:cNvSpPr txBox="1"/>
          <p:nvPr/>
        </p:nvSpPr>
        <p:spPr>
          <a:xfrm>
            <a:off x="742245" y="2804845"/>
            <a:ext cx="152834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002060"/>
                </a:solidFill>
                <a:latin typeface="Century Gothic"/>
                <a:ea typeface="Century Gothic"/>
                <a:cs typeface="Century Gothic"/>
                <a:sym typeface="Century Gothic"/>
              </a:rPr>
              <a:t>S</a:t>
            </a:r>
            <a:r>
              <a:rPr i="0" lang="en-GB" sz="1800">
                <a:solidFill>
                  <a:srgbClr val="002060"/>
                </a:solidFill>
                <a:latin typeface="Century Gothic"/>
                <a:ea typeface="Century Gothic"/>
                <a:cs typeface="Century Gothic"/>
                <a:sym typeface="Century Gothic"/>
              </a:rPr>
              <a:t>print Planning The Proof of Concept (PoC)</a:t>
            </a:r>
            <a:endParaRPr sz="1800">
              <a:solidFill>
                <a:srgbClr val="00206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graphicFrame>
        <p:nvGraphicFramePr>
          <p:cNvPr id="244" name="Google Shape;244;p17"/>
          <p:cNvGraphicFramePr/>
          <p:nvPr/>
        </p:nvGraphicFramePr>
        <p:xfrm>
          <a:off x="729924" y="1368226"/>
          <a:ext cx="3000000" cy="3000000"/>
        </p:xfrm>
        <a:graphic>
          <a:graphicData uri="http://schemas.openxmlformats.org/drawingml/2006/table">
            <a:tbl>
              <a:tblPr>
                <a:noFill/>
                <a:tableStyleId>{2D9D0671-3B3A-4BBB-9704-2ACD332EF75A}</a:tableStyleId>
              </a:tblPr>
              <a:tblGrid>
                <a:gridCol w="1774975"/>
                <a:gridCol w="8755575"/>
              </a:tblGrid>
              <a:tr h="242500">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Category</a:t>
                      </a:r>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Protocol</a:t>
                      </a:r>
                      <a:endParaRPr/>
                    </a:p>
                  </a:txBody>
                  <a:tcPr marT="45725" marB="45725" marR="91450" marL="91450" anchor="b">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263550">
                <a:tc rowSpan="3">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Issue Logging</a:t>
                      </a:r>
                      <a:endParaRPr sz="900">
                        <a:latin typeface="Century Gothic"/>
                        <a:ea typeface="Century Gothic"/>
                        <a:cs typeface="Century Gothic"/>
                        <a:sym typeface="Century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Use JIRA as the primary platform for logging and tracking issues.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2167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Provide detailed descriptions, including problem descriptions, impact, priority levels, and relevant attachments or screenshots.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26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Assign issues to appropriate team members and regularly update their status for timely resolution.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3550">
                <a:tc rowSpan="3">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Request Logging</a:t>
                      </a:r>
                      <a:endParaRPr sz="900">
                        <a:latin typeface="Century Gothic"/>
                        <a:ea typeface="Century Gothic"/>
                        <a:cs typeface="Century Gothic"/>
                        <a:sym typeface="Century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Log all change requests, enhancements, or additional resource requests in JIRA.</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426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Clearly define the request's purpose, desired outcome, and assign it to responsible team members.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426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Regularly review and prioritize requests based on their impact, urgency, and alignment with project objectives.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342625">
                <a:tc rowSpan="3">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Feedback Logging</a:t>
                      </a:r>
                      <a:endParaRPr sz="900">
                        <a:latin typeface="Century Gothic"/>
                        <a:ea typeface="Century Gothic"/>
                        <a:cs typeface="Century Gothic"/>
                        <a:sym typeface="Century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Capture feedback within Confluence, creating dedicated spaces for documentation and discussion.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26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Encourage stakeholders to provide clear, constructive feedback on project components or phases.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4262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Analyze feedback regularly to identify common themes and actionable insights for project improvements.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3550">
                <a:tc rowSpan="3">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Change Logging</a:t>
                      </a:r>
                      <a:endParaRPr sz="900">
                        <a:latin typeface="Century Gothic"/>
                        <a:ea typeface="Century Gothic"/>
                        <a:cs typeface="Century Gothic"/>
                        <a:sym typeface="Century Gothic"/>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5F8"/>
                    </a:solidFill>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Document all changes to project scope, requirements, or deliverables within JIRA.</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42167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Clearly articulate the rationale behind each change and involve relevant stakeholders in the evaluation and approval process.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9E5F8"/>
                    </a:solidFill>
                  </a:tcPr>
                </a:tc>
              </a:tr>
              <a:tr h="421675">
                <a:tc vMerge="1"/>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 Maintain a comprehensive change log within JIRA to track the history of changes made throughout the project lifecycle.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D9E5F8"/>
                    </a:solidFill>
                  </a:tcPr>
                </a:tc>
              </a:tr>
            </a:tbl>
          </a:graphicData>
        </a:graphic>
      </p:graphicFrame>
      <p:sp>
        <p:nvSpPr>
          <p:cNvPr id="245" name="Google Shape;245;p17"/>
          <p:cNvSpPr txBox="1"/>
          <p:nvPr/>
        </p:nvSpPr>
        <p:spPr>
          <a:xfrm>
            <a:off x="729924" y="366142"/>
            <a:ext cx="72683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1800">
                <a:solidFill>
                  <a:srgbClr val="002060"/>
                </a:solidFill>
                <a:latin typeface="Century Gothic"/>
                <a:ea typeface="Century Gothic"/>
                <a:cs typeface="Century Gothic"/>
                <a:sym typeface="Century Gothic"/>
              </a:rPr>
              <a:t>Protocols for Logging Issues, Requests, Feedback, and Changes</a:t>
            </a:r>
            <a:endParaRPr sz="1800">
              <a:solidFill>
                <a:srgbClr val="002060"/>
              </a:solidFill>
              <a:latin typeface="Century Gothic"/>
              <a:ea typeface="Century Gothic"/>
              <a:cs typeface="Century Gothic"/>
              <a:sym typeface="Century Gothic"/>
            </a:endParaRPr>
          </a:p>
        </p:txBody>
      </p:sp>
      <p:sp>
        <p:nvSpPr>
          <p:cNvPr id="246" name="Google Shape;246;p17"/>
          <p:cNvSpPr txBox="1"/>
          <p:nvPr/>
        </p:nvSpPr>
        <p:spPr>
          <a:xfrm>
            <a:off x="729924" y="735474"/>
            <a:ext cx="9749716"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GB" sz="1100">
                <a:solidFill>
                  <a:schemeClr val="dk1"/>
                </a:solidFill>
                <a:latin typeface="Century Gothic"/>
                <a:ea typeface="Century Gothic"/>
                <a:cs typeface="Century Gothic"/>
                <a:sym typeface="Century Gothic"/>
              </a:rPr>
              <a:t>Following these protocols ensures systematic documentation, tracking, and management of issues, requests, feedback, and changes throughout the program management process, facilitating effective communication, collaboration, and decision-making</a:t>
            </a:r>
            <a:endParaRPr sz="1100">
              <a:solidFill>
                <a:schemeClr val="dk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0" name="Shape 250"/>
        <p:cNvGrpSpPr/>
        <p:nvPr/>
      </p:nvGrpSpPr>
      <p:grpSpPr>
        <a:xfrm>
          <a:off x="0" y="0"/>
          <a:ext cx="0" cy="0"/>
          <a:chOff x="0" y="0"/>
          <a:chExt cx="0" cy="0"/>
        </a:xfrm>
      </p:grpSpPr>
      <p:graphicFrame>
        <p:nvGraphicFramePr>
          <p:cNvPr id="251" name="Google Shape;251;p18"/>
          <p:cNvGraphicFramePr/>
          <p:nvPr/>
        </p:nvGraphicFramePr>
        <p:xfrm>
          <a:off x="643467" y="1135074"/>
          <a:ext cx="3000000" cy="3000000"/>
        </p:xfrm>
        <a:graphic>
          <a:graphicData uri="http://schemas.openxmlformats.org/drawingml/2006/table">
            <a:tbl>
              <a:tblPr>
                <a:noFill/>
                <a:tableStyleId>{2D9D0671-3B3A-4BBB-9704-2ACD332EF75A}</a:tableStyleId>
              </a:tblPr>
              <a:tblGrid>
                <a:gridCol w="2490150"/>
                <a:gridCol w="8414925"/>
              </a:tblGrid>
              <a:tr h="338875">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Consideration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Isolation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Ensure sandbox environments are isolated from production systems to prevent unintended impacts on live operations or sensitive data.</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Network Segmentation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Implement network segmentation to restrict communication between the sandbox environment and other organizational networks, minimizing the risk of unauthorized access.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 Privacy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Anonymize or pseudonymize sensitive data used in sandbox environments to protect customer privacy and comply with data protection regulations (e.g., GDPR, CCPA).</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Access Controls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Implement stringent access controls and role-based permissions to restrict access to sandbox environments to authorized personnel only.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 Encryption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Encrypt data at rest and in transit within sandbox environments to safeguard sensitive information from unauthorized access or interception.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Monitoring and Logging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Deploy robust monitoring and logging mechanisms to track user activities, system events, and data access within sandbox environments for security auditing and incident response.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Regular Refresh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Periodically refresh sandbox environments with clean datasets and configurations to maintain consistency and integrity for testing and experimentation purposes.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Compliance and Governance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Ensure sandbox environments adhere to internal security policies, regulatory requirements, and industry standards governing data privacy and security.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Microservices Architecture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Implement containerization and microservices architecture to modularize components of the bank's systems, facilitating agility, scalability, and isolation within sandbox environments.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Version Control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Maintain version control for software and configurations deployed in sandbox environments to track changes, rollback updates, and ensure consistency across iterations.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2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Disaster Recovery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Develop disaster recovery plans and backup procedures to recover sandbox environments in the event of system failures, data corruption, or other unforeseen incidents.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52" name="Google Shape;252;p18"/>
          <p:cNvSpPr txBox="1"/>
          <p:nvPr/>
        </p:nvSpPr>
        <p:spPr>
          <a:xfrm>
            <a:off x="565079" y="575352"/>
            <a:ext cx="58063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1800">
                <a:solidFill>
                  <a:srgbClr val="002060"/>
                </a:solidFill>
                <a:latin typeface="Century Gothic"/>
                <a:ea typeface="Century Gothic"/>
                <a:cs typeface="Century Gothic"/>
                <a:sym typeface="Century Gothic"/>
              </a:rPr>
              <a:t>Considerations for Sandbox Environments for POCs</a:t>
            </a:r>
            <a:endParaRPr sz="1800">
              <a:solidFill>
                <a:srgbClr val="002060"/>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6" name="Shape 256"/>
        <p:cNvGrpSpPr/>
        <p:nvPr/>
      </p:nvGrpSpPr>
      <p:grpSpPr>
        <a:xfrm>
          <a:off x="0" y="0"/>
          <a:ext cx="0" cy="0"/>
          <a:chOff x="0" y="0"/>
          <a:chExt cx="0" cy="0"/>
        </a:xfrm>
      </p:grpSpPr>
      <p:graphicFrame>
        <p:nvGraphicFramePr>
          <p:cNvPr id="257" name="Google Shape;257;p19"/>
          <p:cNvGraphicFramePr/>
          <p:nvPr/>
        </p:nvGraphicFramePr>
        <p:xfrm>
          <a:off x="732806" y="900316"/>
          <a:ext cx="3000000" cy="3000000"/>
        </p:xfrm>
        <a:graphic>
          <a:graphicData uri="http://schemas.openxmlformats.org/drawingml/2006/table">
            <a:tbl>
              <a:tblPr>
                <a:noFill/>
                <a:tableStyleId>{2D9D0671-3B3A-4BBB-9704-2ACD332EF75A}</a:tableStyleId>
              </a:tblPr>
              <a:tblGrid>
                <a:gridCol w="2298075"/>
                <a:gridCol w="7530950"/>
              </a:tblGrid>
              <a:tr h="336700">
                <a:tc>
                  <a:txBody>
                    <a:bodyPr/>
                    <a:lstStyle/>
                    <a:p>
                      <a:pPr indent="0" lvl="0" marL="0" marR="0" rtl="0" algn="l">
                        <a:spcBef>
                          <a:spcPts val="0"/>
                        </a:spcBef>
                        <a:spcAft>
                          <a:spcPts val="0"/>
                        </a:spcAft>
                        <a:buNone/>
                      </a:pPr>
                      <a:r>
                        <a:rPr b="1" lang="en-GB" sz="900" cap="none">
                          <a:solidFill>
                            <a:schemeClr val="lt1"/>
                          </a:solidFill>
                          <a:latin typeface="Century Gothic"/>
                          <a:ea typeface="Century Gothic"/>
                          <a:cs typeface="Century Gothic"/>
                          <a:sym typeface="Century Gothic"/>
                        </a:rPr>
                        <a:t>Consideration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cap="none">
                          <a:solidFill>
                            <a:schemeClr val="lt1"/>
                          </a:solidFill>
                          <a:latin typeface="Century Gothic"/>
                          <a:ea typeface="Century Gothic"/>
                          <a:cs typeface="Century Gothic"/>
                          <a:sym typeface="Century Gothic"/>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Isolation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Ensure sandbox environments are fully isolated from production systems to prevent any potential impact on live operations or sensitive data.</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Network Segmentation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Implement strict network segmentation to restrict communication between the sandbox environment and the rest of the bank's infrastructure, minimizing the risk of unauthorized access.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Data Privacy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Anonymize or pseudonymize sensitive data used within sandbox environments to protect customer privacy and comply with data protection regulations (e.g., GDPR, CCPA).</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Access Controls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Enforce robust access controls and role-based permissions to limit access to sandbox environments only to authorized personnel.</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Data Encryption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Utilize encryption techniques to protect data at rest and in transit within sandbox environments, ensuring confidentiality and integrity of sensitive information.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Monitoring and Logging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Implement comprehensive monitoring and logging mechanisms to track user activities, system events, and data access within sandbox environments for auditing and incident response.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Regular Refresh</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Periodically refresh sandbox environments with sanitized data and configurations to maintain consistency and integrity for testing and experimentation purposes.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Compliance and Governance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Ensure that sandbox environments comply with internal security policies, regulatory requirements, and industry standards governing data protection and security.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Microservices Architecture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Apply containerization and microservices architecture to segment and modularize components within sandbox environments, enhancing agility and scalability while maintaining isolation.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Version Control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Establish version control for software and configurations deployed in sandbox environments to manage changes, rollback updates, and ensure consistency across iterations.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2F2F2"/>
                    </a:solidFill>
                  </a:tcPr>
                </a:tc>
              </a:tr>
              <a:tr h="449825">
                <a:tc>
                  <a:txBody>
                    <a:bodyPr/>
                    <a:lstStyle/>
                    <a:p>
                      <a:pPr indent="0" lvl="0" marL="0" marR="0" rtl="0" algn="l">
                        <a:spcBef>
                          <a:spcPts val="0"/>
                        </a:spcBef>
                        <a:spcAft>
                          <a:spcPts val="0"/>
                        </a:spcAft>
                        <a:buNone/>
                      </a:pPr>
                      <a:r>
                        <a:rPr b="1" lang="en-GB" sz="900" cap="none">
                          <a:solidFill>
                            <a:schemeClr val="dk1"/>
                          </a:solidFill>
                          <a:latin typeface="Century Gothic"/>
                          <a:ea typeface="Century Gothic"/>
                          <a:cs typeface="Century Gothic"/>
                          <a:sym typeface="Century Gothic"/>
                        </a:rPr>
                        <a:t>Disaster Recovery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cap="none">
                          <a:solidFill>
                            <a:schemeClr val="dk1"/>
                          </a:solidFill>
                          <a:latin typeface="Century Gothic"/>
                          <a:ea typeface="Century Gothic"/>
                          <a:cs typeface="Century Gothic"/>
                          <a:sym typeface="Century Gothic"/>
                        </a:rPr>
                        <a:t>Develop and test disaster recovery plans and backup procedures to facilitate quick recovery of sandbox environments in the event of system failures or data breaches.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58" name="Google Shape;258;p19"/>
          <p:cNvSpPr txBox="1"/>
          <p:nvPr/>
        </p:nvSpPr>
        <p:spPr>
          <a:xfrm>
            <a:off x="606176" y="380144"/>
            <a:ext cx="594585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GB" sz="1800">
                <a:solidFill>
                  <a:srgbClr val="002060"/>
                </a:solidFill>
                <a:latin typeface="Century Gothic"/>
                <a:ea typeface="Century Gothic"/>
                <a:cs typeface="Century Gothic"/>
                <a:sym typeface="Century Gothic"/>
              </a:rPr>
              <a:t>IT Security Considerations for Sandbox Environments</a:t>
            </a:r>
            <a:endParaRPr sz="1800">
              <a:solidFill>
                <a:srgbClr val="002060"/>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graphicFrame>
        <p:nvGraphicFramePr>
          <p:cNvPr id="263" name="Google Shape;263;p20"/>
          <p:cNvGraphicFramePr/>
          <p:nvPr/>
        </p:nvGraphicFramePr>
        <p:xfrm>
          <a:off x="883884" y="1054554"/>
          <a:ext cx="3000000" cy="3000000"/>
        </p:xfrm>
        <a:graphic>
          <a:graphicData uri="http://schemas.openxmlformats.org/drawingml/2006/table">
            <a:tbl>
              <a:tblPr>
                <a:noFill/>
                <a:tableStyleId>{2D9D0671-3B3A-4BBB-9704-2ACD332EF75A}</a:tableStyleId>
              </a:tblPr>
              <a:tblGrid>
                <a:gridCol w="1684650"/>
                <a:gridCol w="8424800"/>
              </a:tblGrid>
              <a:tr h="414650">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Protocol</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3718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Test Planning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Develop a comprehensive test plan outlining the scope, objectives, and approach for UAT activities, including test scenarios, test cases, and acceptance criteria to ensure thorough testing coverage.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9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Test Environment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Set up a dedicated UAT environment that closely mirrors the production environment, providing testers with an accurate representation of the system and its functionalities to validate real-world scenarios effectively.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9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Stakeholder Involvement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Involve key stakeholders, including business users, subject matter experts, and project sponsors, in UAT activities to ensure alignment with business requirements, validate user expectations, and gather valuable feedback for refinement.</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9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Test Data Preparation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Prepare representative and relevant test data sets to simulate various user scenarios, business processes, and system interactions during UAT, ensuring that testers have access to realistic data for thorough validation of system functionality.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94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Test Execution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Execute test cases and scenarios based on the defined test plan, following structured procedures and methodologies to systematically validate system behavior, identify defects, and ensure compliance with business requirements and user expectations.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9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Defect Management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Establish a robust defect management process to track, prioritize, and resolve issues identified during UAT, including capturing detailed defect reports, assigning ownership, and facilitating timely resolution and retesting of defects until closure.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94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User Training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Provide training sessions and user documentation to familiarize testers with the system's features, functionalities, and UAT procedures, ensuring that they have the necessary knowledge and skills to perform testing effectively and provide meaningful feedback.</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18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Acceptance Criteria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Define clear acceptance criteria and success metrics for UAT, aligning with business objectives and requirements to determine when the system meets user expectations and is ready for production deployment.</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9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Communication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Maintain open and transparent communication channels throughout the UAT process, including regular progress updates, status reports, and stakeholder meetings to ensure alignment, address concerns, and facilitate timely decision-making and issue resolution.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969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Regression Testing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Conduct regression testing to validate that system changes and enhancements introduced during development or bug fixes do not adversely impact existing functionalities or introduce new defects, ensuring the overall stability and integrity of the system.</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94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Sign-Off</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Obtain formal sign-off from stakeholders and business users confirming their acceptance of the system's functionality, performance, and readiness for production deployment, acknowledging that the system meets their expectations and fulfills business requirements.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64" name="Google Shape;264;p20"/>
          <p:cNvSpPr txBox="1"/>
          <p:nvPr/>
        </p:nvSpPr>
        <p:spPr>
          <a:xfrm>
            <a:off x="883884" y="426915"/>
            <a:ext cx="43829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002060"/>
                </a:solidFill>
                <a:latin typeface="Century Gothic"/>
                <a:ea typeface="Century Gothic"/>
                <a:cs typeface="Century Gothic"/>
                <a:sym typeface="Century Gothic"/>
              </a:rPr>
              <a:t>User Acceptance Test (UAT) Protocols</a:t>
            </a:r>
            <a:endParaRPr sz="1800">
              <a:solidFill>
                <a:srgbClr val="002060"/>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graphicFrame>
        <p:nvGraphicFramePr>
          <p:cNvPr id="269" name="Google Shape;269;p21"/>
          <p:cNvGraphicFramePr/>
          <p:nvPr/>
        </p:nvGraphicFramePr>
        <p:xfrm>
          <a:off x="794177" y="1211277"/>
          <a:ext cx="3000000" cy="3000000"/>
        </p:xfrm>
        <a:graphic>
          <a:graphicData uri="http://schemas.openxmlformats.org/drawingml/2006/table">
            <a:tbl>
              <a:tblPr>
                <a:noFill/>
                <a:tableStyleId>{2D9D0671-3B3A-4BBB-9704-2ACD332EF75A}</a:tableStyleId>
              </a:tblPr>
              <a:tblGrid>
                <a:gridCol w="3440825"/>
                <a:gridCol w="3440825"/>
                <a:gridCol w="3440825"/>
              </a:tblGrid>
              <a:tr h="272950">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Risk Category</a:t>
                      </a:r>
                      <a:endParaRPr/>
                    </a:p>
                  </a:txBody>
                  <a:tcPr marT="45725" marB="45725" marR="91450" marL="91450" anchor="ctr">
                    <a:lnL cap="flat" cmpd="sng" w="9525">
                      <a:solidFill>
                        <a:srgbClr val="E3E3E3"/>
                      </a:solidFill>
                      <a:prstDash val="solid"/>
                      <a:round/>
                      <a:headEnd len="sm" w="sm" type="none"/>
                      <a:tailEnd len="sm" w="sm" type="none"/>
                    </a:lnL>
                    <a:lnR cap="flat" cmpd="sng" w="9525">
                      <a:solidFill>
                        <a:srgbClr val="E3E3E3"/>
                      </a:solidFill>
                      <a:prstDash val="solid"/>
                      <a:round/>
                      <a:headEnd len="sm" w="sm" type="none"/>
                      <a:tailEnd len="sm" w="sm" type="none"/>
                    </a:lnR>
                    <a:lnT cap="flat" cmpd="sng" w="9525">
                      <a:solidFill>
                        <a:srgbClr val="E3E3E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Description</a:t>
                      </a:r>
                      <a:endParaRPr/>
                    </a:p>
                  </a:txBody>
                  <a:tcPr marT="45725" marB="45725" marR="91450" marL="91450" anchor="ctr">
                    <a:lnL cap="flat" cmpd="sng" w="9525">
                      <a:solidFill>
                        <a:srgbClr val="E3E3E3"/>
                      </a:solidFill>
                      <a:prstDash val="solid"/>
                      <a:round/>
                      <a:headEnd len="sm" w="sm" type="none"/>
                      <a:tailEnd len="sm" w="sm" type="none"/>
                    </a:lnL>
                    <a:lnR cap="flat" cmpd="sng" w="9525">
                      <a:solidFill>
                        <a:srgbClr val="E3E3E3"/>
                      </a:solidFill>
                      <a:prstDash val="solid"/>
                      <a:round/>
                      <a:headEnd len="sm" w="sm" type="none"/>
                      <a:tailEnd len="sm" w="sm" type="none"/>
                    </a:lnR>
                    <a:lnT cap="flat" cmpd="sng" w="9525">
                      <a:solidFill>
                        <a:srgbClr val="E3E3E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Examples</a:t>
                      </a:r>
                      <a:endParaRPr/>
                    </a:p>
                  </a:txBody>
                  <a:tcPr marT="45725" marB="45725" marR="91450" marL="91450" anchor="ctr">
                    <a:lnL cap="flat" cmpd="sng" w="9525">
                      <a:solidFill>
                        <a:srgbClr val="E3E3E3"/>
                      </a:solidFill>
                      <a:prstDash val="solid"/>
                      <a:round/>
                      <a:headEnd len="sm" w="sm" type="none"/>
                      <a:tailEnd len="sm" w="sm" type="none"/>
                    </a:lnL>
                    <a:lnR cap="flat" cmpd="sng" w="9525">
                      <a:solidFill>
                        <a:srgbClr val="E3E3E3"/>
                      </a:solidFill>
                      <a:prstDash val="solid"/>
                      <a:round/>
                      <a:headEnd len="sm" w="sm" type="none"/>
                      <a:tailEnd len="sm" w="sm" type="none"/>
                    </a:lnR>
                    <a:lnT cap="flat" cmpd="sng" w="9525">
                      <a:solidFill>
                        <a:srgbClr val="E3E3E3"/>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2060"/>
                    </a:solidFill>
                  </a:tcPr>
                </a:tc>
              </a:tr>
              <a:tr h="4363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Technical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related to technical complexities, limitations, or failures during POC implementation.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Integration issues, software bugs, hardware malfunctions, compatibility issues.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5052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Operational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associated with operational processes, procedures, and resources required for POC execution.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Insufficient resources, inadequate training, lack of stakeholder engagement, poor project management.</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3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Financial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related to budgeting, funding, and financial management of POC projects.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Cost overruns, budget constraints, inaccurate cost estimates, unexpected expenses.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52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Legal and Regulatory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arising from non-compliance with laws, regulations, or industry standards applicable to POC initiatives.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Data privacy violations, intellectual property infringement, regulatory penalties.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52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Market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associated with market conditions, competition, and customer acceptance of POC solutions.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Lack of market demand, changes in consumer preferences, competitive pressures.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3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Strategic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impacting the alignment of POC projects with organizational objectives, goals, and strategies.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Misalignment with business priorities, failure to achieve strategic objectives, deviation from corporate strategy.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741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External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originating from external factors beyond the organization's control, such as environmental, geopolitical, or economic factors.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Natural disasters, political instability, economic downturns, supply chain disruptions.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52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Reputational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affecting the organization's reputation, brand image, and public perception due to POC outcomes or handling.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Negative publicity, customer dissatisfaction, loss of trust and credibility.</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52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Security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related to the security and protection of data, information, and assets involved in POC projects.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Data breaches, cyberattacks, unauthorized access, vulnerabilities in systems or infrastructure.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6300">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Environmental Risks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Risks associated with environmental impacts and sustainability considerations of POC activities.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Environmental pollution, resource depletion, ecological damage.</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70" name="Google Shape;270;p21"/>
          <p:cNvSpPr txBox="1"/>
          <p:nvPr/>
        </p:nvSpPr>
        <p:spPr>
          <a:xfrm>
            <a:off x="794177" y="647271"/>
            <a:ext cx="23070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entury Gothic"/>
                <a:ea typeface="Century Gothic"/>
                <a:cs typeface="Century Gothic"/>
                <a:sym typeface="Century Gothic"/>
              </a:rPr>
              <a:t>Risk Categorization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2"/>
          <p:cNvSpPr txBox="1"/>
          <p:nvPr/>
        </p:nvSpPr>
        <p:spPr>
          <a:xfrm>
            <a:off x="592570" y="600500"/>
            <a:ext cx="853310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chemeClr val="dk1"/>
                </a:solidFill>
                <a:latin typeface="Century Gothic"/>
                <a:ea typeface="Century Gothic"/>
                <a:cs typeface="Century Gothic"/>
                <a:sym typeface="Century Gothic"/>
              </a:rPr>
              <a:t>TOOLS &amp; CONSIDERATIONS FOR THE POC MANAGEMENT</a:t>
            </a:r>
            <a:endParaRPr/>
          </a:p>
        </p:txBody>
      </p:sp>
      <p:graphicFrame>
        <p:nvGraphicFramePr>
          <p:cNvPr id="276" name="Google Shape;276;p22"/>
          <p:cNvGraphicFramePr/>
          <p:nvPr/>
        </p:nvGraphicFramePr>
        <p:xfrm>
          <a:off x="777156" y="1313007"/>
          <a:ext cx="3000000" cy="3000000"/>
        </p:xfrm>
        <a:graphic>
          <a:graphicData uri="http://schemas.openxmlformats.org/drawingml/2006/table">
            <a:tbl>
              <a:tblPr>
                <a:noFill/>
                <a:tableStyleId>{2D9D0671-3B3A-4BBB-9704-2ACD332EF75A}</a:tableStyleId>
              </a:tblPr>
              <a:tblGrid>
                <a:gridCol w="2315375"/>
                <a:gridCol w="7798075"/>
              </a:tblGrid>
              <a:tr h="289750">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Tool/Consideration</a:t>
                      </a:r>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c>
                  <a:txBody>
                    <a:bodyPr/>
                    <a:lstStyle/>
                    <a:p>
                      <a:pPr indent="0" lvl="0" marL="0" marR="0" rtl="0" algn="l">
                        <a:spcBef>
                          <a:spcPts val="0"/>
                        </a:spcBef>
                        <a:spcAft>
                          <a:spcPts val="0"/>
                        </a:spcAft>
                        <a:buNone/>
                      </a:pPr>
                      <a:r>
                        <a:rPr b="1" lang="en-GB" sz="900">
                          <a:solidFill>
                            <a:schemeClr val="lt1"/>
                          </a:solidFill>
                          <a:latin typeface="Century Gothic"/>
                          <a:ea typeface="Century Gothic"/>
                          <a:cs typeface="Century Gothic"/>
                          <a:sym typeface="Century Gothic"/>
                        </a:rPr>
                        <a:t>Description</a:t>
                      </a:r>
                      <a:endParaRPr/>
                    </a:p>
                  </a:txBody>
                  <a:tcPr marT="45725" marB="45725" marR="91450" marL="91450" anchor="b">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002060"/>
                    </a:solidFill>
                  </a:tcPr>
                </a:tc>
              </a:tr>
              <a:tr h="2909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Project Management Software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Utilize project management tools such as JIRA, Trello, or Asana to track POC progress, manage tasks, assign responsibilities, and facilitate collaboration among team members.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3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Collaboration Platforms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Use collaboration platforms like Microsoft Teams, Slack, or Zoom for real-time communication, file sharing, and virtual meetings to foster collaboration and coordination among project stakeholders, ensuring efficient information exchange and decision-making.</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32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Version Control Systems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Implement version control systems such as Git or SVN to manage codebase versions, track changes, and facilitate collaboration among developers working on POC development, ensuring code integrity, traceability, and easy rollback of changes if needed.</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496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Cloud Infrastructure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Leverage cloud computing platforms like AWS, Microsoft Azure, or Google Cloud Platform to provision scalable and cost-effective infrastructure resources for hosting POC environments, enabling rapid deployment, flexibility, and scalability to support development and testing needs.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Analytics and Reporting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Employ analytics and reporting tools like Google Analytics, Tableau, or Power BI to gather insights, analyze data, and generate reports on POC performance, user engagement, and key metrics, enabling data-driven decision-making and evaluation of POC effectiveness.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Test Automation Tools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Use test automation tools such as Selenium, JUnit, or Postman for automating POC testing processes, including unit tests, integration tests, and regression tests, to improve testing efficiency, coverage, and reliability, ensuring the quality and stability of POC implementations.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290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Documentation Platforms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Utilize documentation platforms like Confluence, Google Docs, or Microsoft SharePoint to create and maintain project documentation, including requirements documents, design specifications, user manuals, and technical documentation, ensuring clarity, consistency, and accessibility of project information.</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93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Feedback Collection Systems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Implement feedback collection systems such as online surveys, feedback forms, or customer feedback portals to gather feedback from stakeholders, end-users, and customers on POC features, usability, and performance, enabling continuous improvement and refinement of POC solutions based on user input.</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93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Security and Compliance Tools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Employ security and compliance tools such as vulnerability scanners, security monitoring systems, and compliance management platforms to ensure adherence to security best practices, regulatory requirements, and data protection standards throughout the POC lifecycle, safeguarding sensitive data and mitigating security risks.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89350">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Project Governance Framework</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GB" sz="900">
                          <a:latin typeface="Century Gothic"/>
                          <a:ea typeface="Century Gothic"/>
                          <a:cs typeface="Century Gothic"/>
                          <a:sym typeface="Century Gothic"/>
                        </a:rPr>
                        <a:t>Establish a project governance framework outlining roles, responsibilities, and decision-making processes for POC management, including project charters, governance boards, and steering committees, to provide oversight, direction, and accountability for POC initiatives, ensuring alignment with organizational goals and objectives.</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3"/>
          <p:cNvSpPr txBox="1"/>
          <p:nvPr/>
        </p:nvSpPr>
        <p:spPr>
          <a:xfrm>
            <a:off x="868481" y="377470"/>
            <a:ext cx="221727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200">
                <a:solidFill>
                  <a:schemeClr val="dk1"/>
                </a:solidFill>
                <a:latin typeface="Century Gothic"/>
                <a:ea typeface="Century Gothic"/>
                <a:cs typeface="Century Gothic"/>
                <a:sym typeface="Century Gothic"/>
              </a:rPr>
              <a:t>Templates</a:t>
            </a:r>
            <a:endParaRPr/>
          </a:p>
        </p:txBody>
      </p:sp>
      <p:pic>
        <p:nvPicPr>
          <p:cNvPr id="282" name="Google Shape;282;p23"/>
          <p:cNvPicPr preferRelativeResize="0"/>
          <p:nvPr/>
        </p:nvPicPr>
        <p:blipFill rotWithShape="1">
          <a:blip r:embed="rId3">
            <a:alphaModFix/>
          </a:blip>
          <a:srcRect b="0" l="0" r="0" t="0"/>
          <a:stretch/>
        </p:blipFill>
        <p:spPr>
          <a:xfrm>
            <a:off x="877621" y="2777589"/>
            <a:ext cx="581061" cy="581061"/>
          </a:xfrm>
          <a:prstGeom prst="rect">
            <a:avLst/>
          </a:prstGeom>
          <a:noFill/>
          <a:ln>
            <a:noFill/>
          </a:ln>
        </p:spPr>
      </p:pic>
      <p:pic>
        <p:nvPicPr>
          <p:cNvPr id="283" name="Google Shape;283;p23"/>
          <p:cNvPicPr preferRelativeResize="0"/>
          <p:nvPr/>
        </p:nvPicPr>
        <p:blipFill rotWithShape="1">
          <a:blip r:embed="rId3">
            <a:alphaModFix/>
          </a:blip>
          <a:srcRect b="0" l="0" r="0" t="0"/>
          <a:stretch/>
        </p:blipFill>
        <p:spPr>
          <a:xfrm>
            <a:off x="2018163" y="2847939"/>
            <a:ext cx="581061" cy="581061"/>
          </a:xfrm>
          <a:prstGeom prst="rect">
            <a:avLst/>
          </a:prstGeom>
          <a:noFill/>
          <a:ln>
            <a:noFill/>
          </a:ln>
        </p:spPr>
      </p:pic>
      <p:pic>
        <p:nvPicPr>
          <p:cNvPr id="284" name="Google Shape;284;p23"/>
          <p:cNvPicPr preferRelativeResize="0"/>
          <p:nvPr/>
        </p:nvPicPr>
        <p:blipFill rotWithShape="1">
          <a:blip r:embed="rId3">
            <a:alphaModFix/>
          </a:blip>
          <a:srcRect b="0" l="0" r="0" t="0"/>
          <a:stretch/>
        </p:blipFill>
        <p:spPr>
          <a:xfrm>
            <a:off x="3158705" y="2847939"/>
            <a:ext cx="581061" cy="581061"/>
          </a:xfrm>
          <a:prstGeom prst="rect">
            <a:avLst/>
          </a:prstGeom>
          <a:noFill/>
          <a:ln>
            <a:noFill/>
          </a:ln>
        </p:spPr>
      </p:pic>
      <p:pic>
        <p:nvPicPr>
          <p:cNvPr id="285" name="Google Shape;285;p23"/>
          <p:cNvPicPr preferRelativeResize="0"/>
          <p:nvPr/>
        </p:nvPicPr>
        <p:blipFill rotWithShape="1">
          <a:blip r:embed="rId3">
            <a:alphaModFix/>
          </a:blip>
          <a:srcRect b="0" l="0" r="0" t="0"/>
          <a:stretch/>
        </p:blipFill>
        <p:spPr>
          <a:xfrm>
            <a:off x="4299247" y="2777589"/>
            <a:ext cx="581061" cy="581061"/>
          </a:xfrm>
          <a:prstGeom prst="rect">
            <a:avLst/>
          </a:prstGeom>
          <a:noFill/>
          <a:ln>
            <a:noFill/>
          </a:ln>
        </p:spPr>
      </p:pic>
      <p:pic>
        <p:nvPicPr>
          <p:cNvPr id="286" name="Google Shape;286;p23"/>
          <p:cNvPicPr preferRelativeResize="0"/>
          <p:nvPr/>
        </p:nvPicPr>
        <p:blipFill rotWithShape="1">
          <a:blip r:embed="rId3">
            <a:alphaModFix/>
          </a:blip>
          <a:srcRect b="0" l="0" r="0" t="0"/>
          <a:stretch/>
        </p:blipFill>
        <p:spPr>
          <a:xfrm>
            <a:off x="5439789" y="2847939"/>
            <a:ext cx="581061" cy="581061"/>
          </a:xfrm>
          <a:prstGeom prst="rect">
            <a:avLst/>
          </a:prstGeom>
          <a:noFill/>
          <a:ln>
            <a:noFill/>
          </a:ln>
        </p:spPr>
      </p:pic>
      <p:pic>
        <p:nvPicPr>
          <p:cNvPr id="287" name="Google Shape;287;p23"/>
          <p:cNvPicPr preferRelativeResize="0"/>
          <p:nvPr/>
        </p:nvPicPr>
        <p:blipFill rotWithShape="1">
          <a:blip r:embed="rId3">
            <a:alphaModFix/>
          </a:blip>
          <a:srcRect b="0" l="0" r="0" t="0"/>
          <a:stretch/>
        </p:blipFill>
        <p:spPr>
          <a:xfrm>
            <a:off x="6580331" y="2847939"/>
            <a:ext cx="581061" cy="581061"/>
          </a:xfrm>
          <a:prstGeom prst="rect">
            <a:avLst/>
          </a:prstGeom>
          <a:noFill/>
          <a:ln>
            <a:noFill/>
          </a:ln>
        </p:spPr>
      </p:pic>
      <p:pic>
        <p:nvPicPr>
          <p:cNvPr id="288" name="Google Shape;288;p23"/>
          <p:cNvPicPr preferRelativeResize="0"/>
          <p:nvPr/>
        </p:nvPicPr>
        <p:blipFill rotWithShape="1">
          <a:blip r:embed="rId3">
            <a:alphaModFix/>
          </a:blip>
          <a:srcRect b="0" l="0" r="0" t="0"/>
          <a:stretch/>
        </p:blipFill>
        <p:spPr>
          <a:xfrm>
            <a:off x="871297" y="4443433"/>
            <a:ext cx="581061" cy="581061"/>
          </a:xfrm>
          <a:prstGeom prst="rect">
            <a:avLst/>
          </a:prstGeom>
          <a:noFill/>
          <a:ln>
            <a:noFill/>
          </a:ln>
        </p:spPr>
      </p:pic>
      <p:pic>
        <p:nvPicPr>
          <p:cNvPr id="289" name="Google Shape;289;p23"/>
          <p:cNvPicPr preferRelativeResize="0"/>
          <p:nvPr/>
        </p:nvPicPr>
        <p:blipFill rotWithShape="1">
          <a:blip r:embed="rId3">
            <a:alphaModFix/>
          </a:blip>
          <a:srcRect b="0" l="0" r="0" t="0"/>
          <a:stretch/>
        </p:blipFill>
        <p:spPr>
          <a:xfrm>
            <a:off x="2011839" y="4513783"/>
            <a:ext cx="581061" cy="581061"/>
          </a:xfrm>
          <a:prstGeom prst="rect">
            <a:avLst/>
          </a:prstGeom>
          <a:noFill/>
          <a:ln>
            <a:noFill/>
          </a:ln>
        </p:spPr>
      </p:pic>
      <p:pic>
        <p:nvPicPr>
          <p:cNvPr id="290" name="Google Shape;290;p23"/>
          <p:cNvPicPr preferRelativeResize="0"/>
          <p:nvPr/>
        </p:nvPicPr>
        <p:blipFill rotWithShape="1">
          <a:blip r:embed="rId3">
            <a:alphaModFix/>
          </a:blip>
          <a:srcRect b="0" l="0" r="0" t="0"/>
          <a:stretch/>
        </p:blipFill>
        <p:spPr>
          <a:xfrm>
            <a:off x="3152381" y="4513783"/>
            <a:ext cx="581061" cy="581061"/>
          </a:xfrm>
          <a:prstGeom prst="rect">
            <a:avLst/>
          </a:prstGeom>
          <a:noFill/>
          <a:ln>
            <a:noFill/>
          </a:ln>
        </p:spPr>
      </p:pic>
      <p:pic>
        <p:nvPicPr>
          <p:cNvPr id="291" name="Google Shape;291;p23"/>
          <p:cNvPicPr preferRelativeResize="0"/>
          <p:nvPr/>
        </p:nvPicPr>
        <p:blipFill rotWithShape="1">
          <a:blip r:embed="rId3">
            <a:alphaModFix/>
          </a:blip>
          <a:srcRect b="0" l="0" r="0" t="0"/>
          <a:stretch/>
        </p:blipFill>
        <p:spPr>
          <a:xfrm>
            <a:off x="4292923" y="4443433"/>
            <a:ext cx="581061" cy="581061"/>
          </a:xfrm>
          <a:prstGeom prst="rect">
            <a:avLst/>
          </a:prstGeom>
          <a:noFill/>
          <a:ln>
            <a:noFill/>
          </a:ln>
        </p:spPr>
      </p:pic>
      <p:pic>
        <p:nvPicPr>
          <p:cNvPr id="292" name="Google Shape;292;p23"/>
          <p:cNvPicPr preferRelativeResize="0"/>
          <p:nvPr/>
        </p:nvPicPr>
        <p:blipFill rotWithShape="1">
          <a:blip r:embed="rId3">
            <a:alphaModFix/>
          </a:blip>
          <a:srcRect b="0" l="0" r="0" t="0"/>
          <a:stretch/>
        </p:blipFill>
        <p:spPr>
          <a:xfrm>
            <a:off x="5433465" y="4513783"/>
            <a:ext cx="581061" cy="581061"/>
          </a:xfrm>
          <a:prstGeom prst="rect">
            <a:avLst/>
          </a:prstGeom>
          <a:noFill/>
          <a:ln>
            <a:noFill/>
          </a:ln>
        </p:spPr>
      </p:pic>
      <p:pic>
        <p:nvPicPr>
          <p:cNvPr id="293" name="Google Shape;293;p23"/>
          <p:cNvPicPr preferRelativeResize="0"/>
          <p:nvPr/>
        </p:nvPicPr>
        <p:blipFill rotWithShape="1">
          <a:blip r:embed="rId3">
            <a:alphaModFix/>
          </a:blip>
          <a:srcRect b="0" l="0" r="0" t="0"/>
          <a:stretch/>
        </p:blipFill>
        <p:spPr>
          <a:xfrm>
            <a:off x="6574007" y="4513783"/>
            <a:ext cx="581061" cy="581061"/>
          </a:xfrm>
          <a:prstGeom prst="rect">
            <a:avLst/>
          </a:prstGeom>
          <a:noFill/>
          <a:ln>
            <a:noFill/>
          </a:ln>
        </p:spPr>
      </p:pic>
      <p:grpSp>
        <p:nvGrpSpPr>
          <p:cNvPr id="294" name="Google Shape;294;p23"/>
          <p:cNvGrpSpPr/>
          <p:nvPr/>
        </p:nvGrpSpPr>
        <p:grpSpPr>
          <a:xfrm>
            <a:off x="1002890" y="1283885"/>
            <a:ext cx="1537600" cy="1060332"/>
            <a:chOff x="1002890" y="1283885"/>
            <a:chExt cx="1537600" cy="1060332"/>
          </a:xfrm>
        </p:grpSpPr>
        <p:pic>
          <p:nvPicPr>
            <p:cNvPr id="295" name="Google Shape;295;p23">
              <a:hlinkClick r:id="rId4"/>
            </p:cNvPr>
            <p:cNvPicPr preferRelativeResize="0"/>
            <p:nvPr/>
          </p:nvPicPr>
          <p:blipFill rotWithShape="1">
            <a:blip r:embed="rId5">
              <a:alphaModFix/>
            </a:blip>
            <a:srcRect b="0" l="0" r="0" t="0"/>
            <a:stretch/>
          </p:blipFill>
          <p:spPr>
            <a:xfrm>
              <a:off x="1380023" y="1283885"/>
              <a:ext cx="783333" cy="783333"/>
            </a:xfrm>
            <a:prstGeom prst="rect">
              <a:avLst/>
            </a:prstGeom>
            <a:noFill/>
            <a:ln>
              <a:noFill/>
            </a:ln>
          </p:spPr>
        </p:pic>
        <p:sp>
          <p:nvSpPr>
            <p:cNvPr id="296" name="Google Shape;296;p23">
              <a:hlinkClick r:id="rId6"/>
            </p:cNvPr>
            <p:cNvSpPr txBox="1"/>
            <p:nvPr/>
          </p:nvSpPr>
          <p:spPr>
            <a:xfrm>
              <a:off x="1002890" y="2067218"/>
              <a:ext cx="153760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POC Governance</a:t>
              </a:r>
              <a:endParaRPr/>
            </a:p>
          </p:txBody>
        </p:sp>
      </p:grpSp>
      <p:grpSp>
        <p:nvGrpSpPr>
          <p:cNvPr id="297" name="Google Shape;297;p23"/>
          <p:cNvGrpSpPr/>
          <p:nvPr/>
        </p:nvGrpSpPr>
        <p:grpSpPr>
          <a:xfrm>
            <a:off x="2928079" y="1270354"/>
            <a:ext cx="1512328" cy="1082070"/>
            <a:chOff x="2928079" y="1270354"/>
            <a:chExt cx="1512328" cy="1082070"/>
          </a:xfrm>
        </p:grpSpPr>
        <p:pic>
          <p:nvPicPr>
            <p:cNvPr id="298" name="Google Shape;298;p23">
              <a:hlinkClick r:id="rId7"/>
            </p:cNvPr>
            <p:cNvPicPr preferRelativeResize="0"/>
            <p:nvPr/>
          </p:nvPicPr>
          <p:blipFill rotWithShape="1">
            <a:blip r:embed="rId5">
              <a:alphaModFix/>
            </a:blip>
            <a:srcRect b="0" l="0" r="0" t="0"/>
            <a:stretch/>
          </p:blipFill>
          <p:spPr>
            <a:xfrm>
              <a:off x="2956433" y="1270354"/>
              <a:ext cx="783333" cy="783333"/>
            </a:xfrm>
            <a:prstGeom prst="rect">
              <a:avLst/>
            </a:prstGeom>
            <a:noFill/>
            <a:ln>
              <a:noFill/>
            </a:ln>
          </p:spPr>
        </p:pic>
        <p:sp>
          <p:nvSpPr>
            <p:cNvPr id="299" name="Google Shape;299;p23">
              <a:hlinkClick r:id="rId8"/>
            </p:cNvPr>
            <p:cNvSpPr txBox="1"/>
            <p:nvPr/>
          </p:nvSpPr>
          <p:spPr>
            <a:xfrm>
              <a:off x="2928079" y="2075425"/>
              <a:ext cx="15123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entury Gothic"/>
                  <a:ea typeface="Century Gothic"/>
                  <a:cs typeface="Century Gothic"/>
                  <a:sym typeface="Century Gothic"/>
                </a:rPr>
                <a:t>Templates</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2024-03-06T14:28:56Z</dcterms:created>
  <dc:creator>Foster Awintiti Akugri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e4f4225-f5a7-40dd-9cd4-5b1027497d42_Enabled">
    <vt:lpwstr>true</vt:lpwstr>
  </property>
  <property fmtid="{D5CDD505-2E9C-101B-9397-08002B2CF9AE}" pid="3" name="MSIP_Label_ee4f4225-f5a7-40dd-9cd4-5b1027497d42_SetDate">
    <vt:lpwstr>2024-03-06T17:02:58Z</vt:lpwstr>
  </property>
  <property fmtid="{D5CDD505-2E9C-101B-9397-08002B2CF9AE}" pid="4" name="MSIP_Label_ee4f4225-f5a7-40dd-9cd4-5b1027497d42_Method">
    <vt:lpwstr>Standard</vt:lpwstr>
  </property>
  <property fmtid="{D5CDD505-2E9C-101B-9397-08002B2CF9AE}" pid="5" name="MSIP_Label_ee4f4225-f5a7-40dd-9cd4-5b1027497d42_Name">
    <vt:lpwstr>defa4170-0d19-0005-0004-bc88714345d2</vt:lpwstr>
  </property>
  <property fmtid="{D5CDD505-2E9C-101B-9397-08002B2CF9AE}" pid="6" name="MSIP_Label_ee4f4225-f5a7-40dd-9cd4-5b1027497d42_SiteId">
    <vt:lpwstr>96d6a731-2094-4e4d-bda0-79f93b41c949</vt:lpwstr>
  </property>
  <property fmtid="{D5CDD505-2E9C-101B-9397-08002B2CF9AE}" pid="7" name="MSIP_Label_ee4f4225-f5a7-40dd-9cd4-5b1027497d42_ActionId">
    <vt:lpwstr>8408dd49-a2ef-4b8a-a61f-cd1c6fe1f401</vt:lpwstr>
  </property>
  <property fmtid="{D5CDD505-2E9C-101B-9397-08002B2CF9AE}" pid="8" name="MSIP_Label_ee4f4225-f5a7-40dd-9cd4-5b1027497d42_ContentBits">
    <vt:lpwstr>0</vt:lpwstr>
  </property>
</Properties>
</file>